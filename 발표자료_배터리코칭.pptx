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[15초] 안녕하십니까, 파라써블입니다. 저희는 배터리 잔량을 사용자의 행동으로 번역하는 코칭 UI를 만들었습니다. 오른쪽은 지금 실제로 동작하는 앱 화면입니다.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[25초] 왼쪽은 잔량 82%인데 완주 가능, 오른쪽은 81%인데 빠듯함입니다. 평수와 소모 조건이 다르기 때문입니다. 잔량이 같아도 조건이 다르면 답이 갈리므로, 숫자만으로는 지금 시작해도 되는지 알 수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[25초] 배터리를 두 숫자로 읽습니다. SOC는 지금 잔량, SOH는 수명입니다. 둘은 독립된 축이고, SOH 80% 미만이면 통상 수명이 다한 것으로 봅니다. 이 둘을 함께 읽어 행동 판정, 유형별 개인화, 수명 코칭 세 가지를 만들었습니다.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[25초] 온보딩, 코칭, 실행 세 단계이고 사용자가 손대는 곳은 실선 네 군데뿐입니다. 분할 청소와 도중 방전 같은 실패 상황까지 경로로 설계했습니다. 다음 장부터는 이 지도의 지점을 확대한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[25초] 유형을 고르게 하는 대신 “카펫을 쓰시나요” 같은 생활 언어 질문 일곱 개로 묻고, 유형은 앱이 추론해 근거와 함께 보여줍니다. 답한 설정은 프리셋으로 저장해 다음부터는 한 번에 불러옵니다.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[25초] 잔량 임계값 대신 여유 시간으로 판정합니다. 5분 이상이면 완주 가능, 0에서 5분은 빠듯함, 음수면 충전 필요입니다. 판정이 셋인 이유는 사용자가 고를 행동이 셋뿐이기 때문입니다.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[25초] 두 화면 모두 잔량 82%지만 SOH 78%인 오른쪽은 37분이 아니라 29분만 쓸 수 있습니다. SOH를 소모 속도에 반영해 배터리가 늙어도 안내가 계속 맞고, 80% 미만이면 교체 시점을 안내합니다.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[25초] 판정은 앱 한 곳에서 하고, 표현은 세 곳으로 나눕니다. 같은 판정이 기기 LCD에 그대로 뜨고, IoT 스피커가 유형별 문장을 읽어줍니다. 심야나 낮잠 시간대에는 소리를 끄고 화면 안내만 남깁니다. 네트워크가 없어도 전 구간 동작합니다.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[20초 → 데모] 잔량만 보여주던 화면이 행동까지 답하게 됐습니다. 수명과 기기 연동이 이번에 새로 생긴 줄입니다. 지금부터 실제 앱에서 보여드리겠습니다.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[30초] AI는 판단이 필요한 다섯 자리에 들어갔습니다. 유형 추론, 여유 시간 예측, 수명 반영, 잔차 진단으로 식 수정, 상황 인지와 IoT 연동. 사용자 입장에서는 전부 “안 해도 되는 일”이 됐습니다. 개발 과정 자체도 Claude Code로 1년치 사용 이력을 반복 분석했습니다.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[25초] 판정, 문장, 음성이 분리돼 있어 확장이 쉽습니다. 실기기 로그가 오면 같은 파이프라인으로 재검증하고, 같은 구조를 다른 배터리 가전에 이식할 수 있으며, SOH 기반 교체 안내는 배터리 케어 서비스로 이어집니다.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질문이 오면 여기로 넘긴다.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D계열만 매핑이 반대다.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앱에 도는 식과 슬라이드의 식이 같다고 분명히 답한다.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집계 단위가 달라 두 세트가 있다고 먼저 밝힌다.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검증과 진단을 가르는 지점이다.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C-1 76%를 먼저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“SOH 50이면 SOC도 50이냐”는 오해를 여기서 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8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6552" cy="6858000"/>
          </a:xfrm>
          <a:prstGeom prst="rect">
            <a:avLst/>
          </a:prstGeom>
          <a:solidFill>
            <a:srgbClr val="0D111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85632" y="512064"/>
            <a:ext cx="2813007" cy="5833872"/>
          </a:xfrm>
          <a:prstGeom prst="roundRect">
            <a:avLst>
              <a:gd name="adj" fmla="val 1950"/>
            </a:avLst>
          </a:prstGeom>
          <a:solidFill>
            <a:srgbClr val="F4F6F7"/>
          </a:solidFill>
          <a:ln w="12700">
            <a:solidFill>
              <a:srgbClr val="DDE3E7"/>
            </a:solidFill>
            <a:prstDash val="solid"/>
          </a:ln>
        </p:spPr>
      </p:sp>
      <p:pic>
        <p:nvPicPr>
          <p:cNvPr id="4" name="Image 0" descr="/Users/brothrone/Desktop/a_repo/shots/08_coach_ok_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2208" y="548640"/>
            <a:ext cx="2739855" cy="57607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169164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7FD9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파라써블 × 부산대학교 · 미래 AX 생활가전 리빙 솔루션+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66928" y="2240280"/>
            <a:ext cx="6858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100"/>
              </a:lnSpc>
              <a:buNone/>
            </a:pPr>
            <a:r>
              <a:rPr lang="en-US" sz="3800" b="1" spc="-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잔량은 기기의 언어,</a:t>
            </a:r>
            <a:endParaRPr lang="en-US" sz="3800" dirty="0"/>
          </a:p>
          <a:p>
            <a:pPr indent="0" marL="0">
              <a:lnSpc>
                <a:spcPts val="5100"/>
              </a:lnSpc>
              <a:buNone/>
            </a:pPr>
            <a:r>
              <a:rPr lang="en-US" sz="3800" b="1" spc="-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코칭 문장은 사용자의 언어</a:t>
            </a:r>
            <a:endParaRPr lang="en-US" sz="3800" dirty="0"/>
          </a:p>
        </p:txBody>
      </p:sp>
      <p:sp>
        <p:nvSpPr>
          <p:cNvPr id="7" name="Text 4"/>
          <p:cNvSpPr/>
          <p:nvPr/>
        </p:nvSpPr>
        <p:spPr>
          <a:xfrm>
            <a:off x="566928" y="402336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A9B5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무선 스틱형 청소기의 배터리 잔량을 “지금 할 행동”으로 번역하는 AX 프로토타입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66928" y="452628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88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오늘 보여드리는 화면은 전부 실제로 도는 앱 화면입니다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서론 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58521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spc="-60" kern="0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정의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66928" y="129844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기기가 주는 것은 % 하나, 사용자가 묻는 것은 “지금 시작해도 되나”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30352" y="1929384"/>
            <a:ext cx="1551804" cy="3182112"/>
          </a:xfrm>
          <a:prstGeom prst="roundRect">
            <a:avLst>
              <a:gd name="adj" fmla="val 3535"/>
            </a:avLst>
          </a:prstGeom>
          <a:solidFill>
            <a:srgbClr val="F4F6F7"/>
          </a:solidFill>
          <a:ln w="12700">
            <a:solidFill>
              <a:srgbClr val="DDE3E7"/>
            </a:solidFill>
            <a:prstDash val="solid"/>
          </a:ln>
        </p:spPr>
      </p:sp>
      <p:pic>
        <p:nvPicPr>
          <p:cNvPr id="6" name="Image 0" descr="/Users/brothrone/Desktop/a_repo/shots/08_coach_ok_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965960"/>
            <a:ext cx="1478652" cy="31089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75488" y="5166360"/>
            <a:ext cx="22101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C-1 · 24평 · 82%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475488" y="5376672"/>
            <a:ext cx="22101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여유 +15분 → 완주 가능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2395728" y="1929384"/>
            <a:ext cx="1509757" cy="3182112"/>
          </a:xfrm>
          <a:prstGeom prst="roundRect">
            <a:avLst>
              <a:gd name="adj" fmla="val 3634"/>
            </a:avLst>
          </a:prstGeom>
          <a:solidFill>
            <a:srgbClr val="F4F6F7"/>
          </a:solidFill>
          <a:ln w="12700">
            <a:solidFill>
              <a:srgbClr val="DDE3E7"/>
            </a:solidFill>
            <a:prstDash val="solid"/>
          </a:ln>
        </p:spPr>
      </p:sp>
      <p:pic>
        <p:nvPicPr>
          <p:cNvPr id="10" name="Image 1" descr="/Users/brothrone/Desktop/a_repo/shots/09_coach_tight_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2304" y="1965960"/>
            <a:ext cx="1436605" cy="31089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2066544" y="5166360"/>
            <a:ext cx="216812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C60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E-1 · 28평 · 81%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2066544" y="5376672"/>
            <a:ext cx="216812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여유 +2분 → 빠듯함</a:t>
            </a:r>
            <a:endParaRPr lang="en-US" sz="850" dirty="0"/>
          </a:p>
        </p:txBody>
      </p:sp>
      <p:sp>
        <p:nvSpPr>
          <p:cNvPr id="13" name="Shape 9"/>
          <p:cNvSpPr/>
          <p:nvPr/>
        </p:nvSpPr>
        <p:spPr>
          <a:xfrm>
            <a:off x="4572000" y="2078736"/>
            <a:ext cx="64008" cy="29261"/>
          </a:xfrm>
          <a:prstGeom prst="rect">
            <a:avLst/>
          </a:prstGeom>
          <a:solidFill>
            <a:srgbClr val="7983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4736592" y="2011680"/>
            <a:ext cx="68762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사용자가 던지는 질문 — 지금 시작하면 끝까지 되나 / 어디까지 가능한가 / 중간에 꺼지면 어떡하나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4572000" y="2700528"/>
            <a:ext cx="64008" cy="29261"/>
          </a:xfrm>
          <a:prstGeom prst="rect">
            <a:avLst/>
          </a:prstGeom>
          <a:solidFill>
            <a:srgbClr val="7983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4736592" y="2633472"/>
            <a:ext cx="68762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기기가 주는 답은 잔량 %와 LED 칸 수가 전부. 그다음 판단은 전부 사용자 몫이다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4572000" y="3322320"/>
            <a:ext cx="64008" cy="29261"/>
          </a:xfrm>
          <a:prstGeom prst="rect">
            <a:avLst/>
          </a:prstGeom>
          <a:solidFill>
            <a:srgbClr val="7983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4736592" y="3255264"/>
            <a:ext cx="68762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잔량은 1%p 차이인데 판정이 갈렸다 — 평수 24 vs 28, 소모 조건이 다르기 때문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4572000" y="3944112"/>
            <a:ext cx="64008" cy="29261"/>
          </a:xfrm>
          <a:prstGeom prst="rect">
            <a:avLst/>
          </a:prstGeom>
          <a:solidFill>
            <a:srgbClr val="7983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4736592" y="3877056"/>
            <a:ext cx="68762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완주 여부를 정하는 건 잔량이 아니라 여유 시간이다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4572000" y="4565904"/>
            <a:ext cx="64008" cy="29261"/>
          </a:xfrm>
          <a:prstGeom prst="rect">
            <a:avLst/>
          </a:prstGeom>
          <a:solidFill>
            <a:srgbClr val="7983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736592" y="4498848"/>
            <a:ext cx="68762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게다가 배터리는 쓸수록 늙는다. 같은 82%라도 새 배터리와 2년 쓴 배터리는 다르다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4572000" y="5074920"/>
            <a:ext cx="7040880" cy="658368"/>
          </a:xfrm>
          <a:prstGeom prst="roundRect">
            <a:avLst>
              <a:gd name="adj" fmla="val 12500"/>
            </a:avLst>
          </a:prstGeom>
          <a:solidFill>
            <a:srgbClr val="F4F6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4736592" y="5074920"/>
            <a:ext cx="6720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i="1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두 화면은 조건이 다릅니다. 잔량이 같아도 조건이 다르면 답이 갈리므로, 잔량만으로는 원리적으로 판단할 수 없습니다.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서론 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58521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spc="-60" kern="0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SOC와 SOH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66928" y="129844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둘은 독립적이다. 함께 읽어야 “지금 할 수 있는 일”이 나온다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965960"/>
            <a:ext cx="3611880" cy="2286000"/>
          </a:xfrm>
          <a:prstGeom prst="roundRect">
            <a:avLst>
              <a:gd name="adj" fmla="val 4000"/>
            </a:avLst>
          </a:prstGeom>
          <a:solidFill>
            <a:srgbClr val="F4F6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211226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A9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804672" y="2587752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of Charge · 충전 상태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04672" y="2880360"/>
            <a:ext cx="3108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지금 얼마나 남았나. 쓰면 줄고 충전하면 다시 100%가 된다.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04672" y="355701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답하는 질문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804672" y="37764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오늘 이 청소를 끝낼 수 있는가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407408" y="1965960"/>
            <a:ext cx="3611880" cy="2286000"/>
          </a:xfrm>
          <a:prstGeom prst="roundRect">
            <a:avLst>
              <a:gd name="adj" fmla="val 4000"/>
            </a:avLst>
          </a:prstGeom>
          <a:solidFill>
            <a:srgbClr val="F4F6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45152" y="211226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F8A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SOH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4645152" y="2587752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of Health · 건강 상태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645152" y="2880360"/>
            <a:ext cx="3108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배터리가 얼마나 늙었나. 신품이 100%이고, 한 번 줄면 돌아오지 않는다.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645152" y="355701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답하는 질문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645152" y="37764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9C60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앞으로 이 배터리를 얼마나 더 쓸 수 있는가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247888" y="196596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CED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85632" y="211226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E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자주 오해하는 것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8485632" y="2476246"/>
            <a:ext cx="64008" cy="29261"/>
          </a:xfrm>
          <a:prstGeom prst="rect">
            <a:avLst/>
          </a:prstGeom>
          <a:solidFill>
            <a:srgbClr val="7983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50224" y="2423160"/>
            <a:ext cx="2761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49"/>
              </a:lnSpc>
              <a:buNone/>
            </a:pPr>
            <a:r>
              <a:rPr lang="en-US" sz="95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SOH 50%라고 해서 SOC가 50%인 건 아니다. 서로 다른 축이다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8485632" y="3043174"/>
            <a:ext cx="64008" cy="29261"/>
          </a:xfrm>
          <a:prstGeom prst="rect">
            <a:avLst/>
          </a:prstGeom>
          <a:solidFill>
            <a:srgbClr val="7983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50224" y="2990088"/>
            <a:ext cx="2761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49"/>
              </a:lnSpc>
              <a:buNone/>
            </a:pPr>
            <a:r>
              <a:rPr lang="en-US" sz="95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SOH 80% 미만이면 통상 수명이 다한 것으로 본다 — 교체를 검토할 시점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8485632" y="3610102"/>
            <a:ext cx="64008" cy="29261"/>
          </a:xfrm>
          <a:prstGeom prst="rect">
            <a:avLst/>
          </a:prstGeom>
          <a:solidFill>
            <a:srgbClr val="7983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650224" y="3557016"/>
            <a:ext cx="2761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49"/>
              </a:lnSpc>
              <a:buNone/>
            </a:pPr>
            <a:r>
              <a:rPr lang="en-US" sz="95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SOH가 낮으면 만충을 해도 쓸 수 있는 시간 자체가 짧아진다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66928" y="46634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그래서 만든 것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66928" y="5029200"/>
            <a:ext cx="82296" cy="457200"/>
          </a:xfrm>
          <a:prstGeom prst="rect">
            <a:avLst/>
          </a:prstGeom>
          <a:solidFill>
            <a:srgbClr val="1FA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86384" y="499262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행동 판정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786384" y="526694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완주 가능 / 빠듯함 / 충전 필요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407408" y="5029200"/>
            <a:ext cx="82296" cy="457200"/>
          </a:xfrm>
          <a:prstGeom prst="rect">
            <a:avLst/>
          </a:prstGeom>
          <a:solidFill>
            <a:srgbClr val="DF8A1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26864" y="499262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유형별 개인화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4626864" y="526694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생활 습관에서 자동 추론 · 프리셋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8247888" y="5029200"/>
            <a:ext cx="82296" cy="457200"/>
          </a:xfrm>
          <a:prstGeom prst="rect">
            <a:avLst/>
          </a:prstGeom>
          <a:solidFill>
            <a:srgbClr val="D93B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467344" y="499262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수명 코칭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8467344" y="526694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SOH 기반 사용·보관 가이드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66928" y="6355080"/>
            <a:ext cx="11055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SOC · SOH 상세와 수명 판정 기준은 Appendix A7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본론 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58521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spc="-60" kern="0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전체 설계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66928" y="129844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실선 = 사용자가 손대는 지점 · 점선 = 앱이 자동으로 처리하는 지점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2057400"/>
            <a:ext cx="1105509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230428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온보딩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66928" y="3310128"/>
            <a:ext cx="11055096" cy="1463040"/>
          </a:xfrm>
          <a:prstGeom prst="rect">
            <a:avLst/>
          </a:prstGeom>
          <a:solidFill>
            <a:srgbClr val="FAFBF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3557016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코칭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66928" y="4892040"/>
            <a:ext cx="1105509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13892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1280160" y="2139696"/>
            <a:ext cx="859536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5875">
            <a:solidFill>
              <a:srgbClr val="14181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325880" y="2139696"/>
            <a:ext cx="768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24"/>
              </a:lnSpc>
              <a:buNone/>
            </a:pPr>
            <a:r>
              <a:rPr lang="en-US" sz="8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실행</a:t>
            </a:r>
            <a:endParaRPr lang="en-US" sz="800" dirty="0"/>
          </a:p>
          <a:p>
            <a:pPr algn="ctr" indent="0" marL="0">
              <a:lnSpc>
                <a:spcPts val="1024"/>
              </a:lnSpc>
              <a:buNone/>
            </a:pPr>
            <a:r>
              <a:rPr lang="en-US" sz="8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프리셋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139696" y="2423160"/>
            <a:ext cx="73152" cy="0"/>
          </a:xfrm>
          <a:prstGeom prst="line">
            <a:avLst/>
          </a:prstGeom>
          <a:noFill/>
          <a:ln w="17780">
            <a:solidFill>
              <a:srgbClr val="B9C2C9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212848" y="2139696"/>
            <a:ext cx="859536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5875">
            <a:solidFill>
              <a:srgbClr val="14181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258568" y="2139696"/>
            <a:ext cx="768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24"/>
              </a:lnSpc>
              <a:buNone/>
            </a:pPr>
            <a:r>
              <a:rPr lang="en-US" sz="8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유형 A~E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072384" y="2423160"/>
            <a:ext cx="73152" cy="0"/>
          </a:xfrm>
          <a:prstGeom prst="line">
            <a:avLst/>
          </a:prstGeom>
          <a:noFill/>
          <a:ln w="17780">
            <a:solidFill>
              <a:srgbClr val="B9C2C9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145536" y="2139696"/>
            <a:ext cx="859536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5875">
            <a:solidFill>
              <a:srgbClr val="14181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191256" y="2139696"/>
            <a:ext cx="768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24"/>
              </a:lnSpc>
              <a:buNone/>
            </a:pPr>
            <a:r>
              <a:rPr lang="en-US" sz="8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 7개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005072" y="2423160"/>
            <a:ext cx="73152" cy="0"/>
          </a:xfrm>
          <a:prstGeom prst="line">
            <a:avLst/>
          </a:prstGeom>
          <a:noFill/>
          <a:ln w="17780">
            <a:solidFill>
              <a:srgbClr val="B9C2C9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4078224" y="2139696"/>
            <a:ext cx="859536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5875">
            <a:solidFill>
              <a:srgbClr val="79838C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123944" y="2139696"/>
            <a:ext cx="768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24"/>
              </a:lnSpc>
              <a:buNone/>
            </a:pPr>
            <a:r>
              <a:rPr lang="en-US" sz="8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세부 유형</a:t>
            </a:r>
            <a:endParaRPr lang="en-US" sz="800" dirty="0"/>
          </a:p>
          <a:p>
            <a:pPr algn="ctr" indent="0" marL="0">
              <a:lnSpc>
                <a:spcPts val="1024"/>
              </a:lnSpc>
              <a:buNone/>
            </a:pPr>
            <a:r>
              <a:rPr lang="en-US" sz="8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자동 판정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937760" y="2423160"/>
            <a:ext cx="73152" cy="0"/>
          </a:xfrm>
          <a:prstGeom prst="line">
            <a:avLst/>
          </a:prstGeom>
          <a:noFill/>
          <a:ln w="17780">
            <a:solidFill>
              <a:srgbClr val="B9C2C9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5010912" y="2139696"/>
            <a:ext cx="859536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5875">
            <a:solidFill>
              <a:srgbClr val="14181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56632" y="2139696"/>
            <a:ext cx="768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24"/>
              </a:lnSpc>
              <a:buNone/>
            </a:pPr>
            <a:r>
              <a:rPr lang="en-US" sz="8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결과 요약</a:t>
            </a:r>
            <a:endParaRPr lang="en-US" sz="800" dirty="0"/>
          </a:p>
          <a:p>
            <a:pPr algn="ctr" indent="0" marL="0">
              <a:lnSpc>
                <a:spcPts val="1024"/>
              </a:lnSpc>
              <a:buNone/>
            </a:pPr>
            <a:r>
              <a:rPr lang="en-US" sz="8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저장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870448" y="2423160"/>
            <a:ext cx="73152" cy="0"/>
          </a:xfrm>
          <a:prstGeom prst="line">
            <a:avLst/>
          </a:prstGeom>
          <a:noFill/>
          <a:ln w="17780">
            <a:solidFill>
              <a:srgbClr val="B9C2C9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5943600" y="2139696"/>
            <a:ext cx="859536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5875">
            <a:solidFill>
              <a:srgbClr val="14181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89320" y="2139696"/>
            <a:ext cx="768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24"/>
              </a:lnSpc>
              <a:buNone/>
            </a:pPr>
            <a:r>
              <a:rPr lang="en-US" sz="8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보이스팩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1280160" y="3429000"/>
            <a:ext cx="859536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5875">
            <a:solidFill>
              <a:srgbClr val="DDE3E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325880" y="3429000"/>
            <a:ext cx="768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88"/>
              </a:lnSpc>
              <a:buNone/>
            </a:pPr>
            <a:r>
              <a:rPr lang="en-US" sz="85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코칭 홈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2139696" y="3703320"/>
            <a:ext cx="73152" cy="0"/>
          </a:xfrm>
          <a:prstGeom prst="line">
            <a:avLst/>
          </a:prstGeom>
          <a:noFill/>
          <a:ln w="17780">
            <a:solidFill>
              <a:srgbClr val="B9C2C9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2212848" y="3429000"/>
            <a:ext cx="859536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5875">
            <a:solidFill>
              <a:srgbClr val="DDE3E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58568" y="3429000"/>
            <a:ext cx="768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88"/>
              </a:lnSpc>
              <a:buNone/>
            </a:pPr>
            <a:r>
              <a:rPr lang="en-US" sz="85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구역 선택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072384" y="3703320"/>
            <a:ext cx="73152" cy="0"/>
          </a:xfrm>
          <a:prstGeom prst="line">
            <a:avLst/>
          </a:prstGeom>
          <a:noFill/>
          <a:ln w="17780">
            <a:solidFill>
              <a:srgbClr val="B9C2C9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3145536" y="3374136"/>
            <a:ext cx="1097280" cy="658368"/>
          </a:xfrm>
          <a:prstGeom prst="roundRect">
            <a:avLst>
              <a:gd name="adj" fmla="val 9722"/>
            </a:avLst>
          </a:prstGeom>
          <a:solidFill>
            <a:srgbClr val="14181D"/>
          </a:solidFill>
          <a:ln w="15875">
            <a:solidFill>
              <a:srgbClr val="14181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191256" y="3374136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8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상태 판정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242816" y="3703320"/>
            <a:ext cx="603504" cy="0"/>
          </a:xfrm>
          <a:prstGeom prst="line">
            <a:avLst/>
          </a:prstGeom>
          <a:noFill/>
          <a:ln w="15240">
            <a:solidFill>
              <a:srgbClr val="CBD3D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846320" y="3703320"/>
            <a:ext cx="0" cy="201168"/>
          </a:xfrm>
          <a:prstGeom prst="line">
            <a:avLst/>
          </a:prstGeom>
          <a:noFill/>
          <a:ln w="17780">
            <a:solidFill>
              <a:srgbClr val="B9C2C9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4187952" y="3941064"/>
            <a:ext cx="1316736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20320">
            <a:solidFill>
              <a:srgbClr val="1FA97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233672" y="3941064"/>
            <a:ext cx="12252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88"/>
              </a:lnSpc>
              <a:buNone/>
            </a:pPr>
            <a:r>
              <a:rPr lang="en-US" sz="850" b="1" dirty="0">
                <a:solidFill>
                  <a:srgbClr val="1FA9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완주 가능</a:t>
            </a:r>
            <a:endParaRPr lang="en-US" sz="850" dirty="0"/>
          </a:p>
          <a:p>
            <a:pPr algn="ctr" indent="0" marL="0">
              <a:lnSpc>
                <a:spcPts val="1088"/>
              </a:lnSpc>
              <a:buNone/>
            </a:pPr>
            <a:r>
              <a:rPr lang="en-US" sz="850" b="1" dirty="0">
                <a:solidFill>
                  <a:srgbClr val="1FA9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바로 시작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4242816" y="3703320"/>
            <a:ext cx="2020824" cy="0"/>
          </a:xfrm>
          <a:prstGeom prst="line">
            <a:avLst/>
          </a:prstGeom>
          <a:noFill/>
          <a:ln w="15240">
            <a:solidFill>
              <a:srgbClr val="CBD3D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263640" y="3703320"/>
            <a:ext cx="0" cy="201168"/>
          </a:xfrm>
          <a:prstGeom prst="line">
            <a:avLst/>
          </a:prstGeom>
          <a:noFill/>
          <a:ln w="17780">
            <a:solidFill>
              <a:srgbClr val="B9C2C9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5605272" y="3941064"/>
            <a:ext cx="1316736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20320">
            <a:solidFill>
              <a:srgbClr val="DF8A1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650992" y="3941064"/>
            <a:ext cx="12252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88"/>
              </a:lnSpc>
              <a:buNone/>
            </a:pPr>
            <a:r>
              <a:rPr lang="en-US" sz="850" b="1" dirty="0">
                <a:solidFill>
                  <a:srgbClr val="DF8A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빠듯함</a:t>
            </a:r>
            <a:endParaRPr lang="en-US" sz="850" dirty="0"/>
          </a:p>
          <a:p>
            <a:pPr algn="ctr" indent="0" marL="0">
              <a:lnSpc>
                <a:spcPts val="1088"/>
              </a:lnSpc>
              <a:buNone/>
            </a:pPr>
            <a:r>
              <a:rPr lang="en-US" sz="850" b="1" dirty="0">
                <a:solidFill>
                  <a:srgbClr val="DF8A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저소음 전환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4242816" y="3703320"/>
            <a:ext cx="3438144" cy="0"/>
          </a:xfrm>
          <a:prstGeom prst="line">
            <a:avLst/>
          </a:prstGeom>
          <a:noFill/>
          <a:ln w="15240">
            <a:solidFill>
              <a:srgbClr val="CBD3D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80960" y="3703320"/>
            <a:ext cx="0" cy="201168"/>
          </a:xfrm>
          <a:prstGeom prst="line">
            <a:avLst/>
          </a:prstGeom>
          <a:noFill/>
          <a:ln w="17780">
            <a:solidFill>
              <a:srgbClr val="B9C2C9"/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7022592" y="3941064"/>
            <a:ext cx="1316736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20320">
            <a:solidFill>
              <a:srgbClr val="D93B4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068312" y="3941064"/>
            <a:ext cx="12252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88"/>
              </a:lnSpc>
              <a:buNone/>
            </a:pPr>
            <a:r>
              <a:rPr lang="en-US" sz="850" b="1" dirty="0">
                <a:solidFill>
                  <a:srgbClr val="D93B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필요</a:t>
            </a:r>
            <a:endParaRPr lang="en-US" sz="850" dirty="0"/>
          </a:p>
          <a:p>
            <a:pPr algn="ctr" indent="0" marL="0">
              <a:lnSpc>
                <a:spcPts val="1088"/>
              </a:lnSpc>
              <a:buNone/>
            </a:pPr>
            <a:r>
              <a:rPr lang="en-US" sz="850" b="1" dirty="0">
                <a:solidFill>
                  <a:srgbClr val="D93B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충전·구역 축소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4242816" y="3703320"/>
            <a:ext cx="4855464" cy="0"/>
          </a:xfrm>
          <a:prstGeom prst="line">
            <a:avLst/>
          </a:prstGeom>
          <a:noFill/>
          <a:ln w="15240">
            <a:solidFill>
              <a:srgbClr val="CBD3D9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9098280" y="3703320"/>
            <a:ext cx="0" cy="201168"/>
          </a:xfrm>
          <a:prstGeom prst="line">
            <a:avLst/>
          </a:prstGeom>
          <a:noFill/>
          <a:ln w="17780">
            <a:solidFill>
              <a:srgbClr val="B9C2C9"/>
            </a:solidFill>
            <a:prstDash val="solid"/>
            <a:tailEnd type="triangle"/>
          </a:ln>
        </p:spPr>
      </p:sp>
      <p:sp>
        <p:nvSpPr>
          <p:cNvPr id="50" name="Shape 48"/>
          <p:cNvSpPr/>
          <p:nvPr/>
        </p:nvSpPr>
        <p:spPr>
          <a:xfrm>
            <a:off x="8439912" y="3941064"/>
            <a:ext cx="1316736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20320">
            <a:solidFill>
              <a:srgbClr val="DF8A16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485632" y="3941064"/>
            <a:ext cx="12252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88"/>
              </a:lnSpc>
              <a:buNone/>
            </a:pPr>
            <a:r>
              <a:rPr lang="en-US" sz="850" b="1" dirty="0">
                <a:solidFill>
                  <a:srgbClr val="DF8A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분할 청소</a:t>
            </a:r>
            <a:endParaRPr lang="en-US" sz="850" dirty="0"/>
          </a:p>
          <a:p>
            <a:pPr algn="ctr" indent="0" marL="0">
              <a:lnSpc>
                <a:spcPts val="1088"/>
              </a:lnSpc>
              <a:buNone/>
            </a:pPr>
            <a:r>
              <a:rPr lang="en-US" sz="850" b="1" dirty="0">
                <a:solidFill>
                  <a:srgbClr val="DF8A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1차→충전→2차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10424160" y="3941064"/>
            <a:ext cx="118872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5875">
            <a:solidFill>
              <a:srgbClr val="79838C"/>
            </a:solidFill>
            <a:prstDash val="dash"/>
          </a:ln>
        </p:spPr>
      </p:sp>
      <p:sp>
        <p:nvSpPr>
          <p:cNvPr id="53" name="Text 51"/>
          <p:cNvSpPr/>
          <p:nvPr/>
        </p:nvSpPr>
        <p:spPr>
          <a:xfrm>
            <a:off x="10469880" y="3941064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88"/>
              </a:lnSpc>
              <a:buNone/>
            </a:pPr>
            <a:r>
              <a:rPr lang="en-US" sz="850" b="1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무음 시간대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3840480" y="4983480"/>
            <a:ext cx="1280160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5875">
            <a:solidFill>
              <a:srgbClr val="DDE3E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886200" y="498348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88"/>
              </a:lnSpc>
              <a:buNone/>
            </a:pPr>
            <a:r>
              <a:rPr lang="en-US" sz="85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청소 진행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5120640" y="5257800"/>
            <a:ext cx="91440" cy="0"/>
          </a:xfrm>
          <a:prstGeom prst="line">
            <a:avLst/>
          </a:prstGeom>
          <a:noFill/>
          <a:ln w="17780">
            <a:solidFill>
              <a:srgbClr val="B9C2C9"/>
            </a:solidFill>
            <a:prstDash val="solid"/>
            <a:tailEnd type="triangle"/>
          </a:ln>
        </p:spPr>
      </p:sp>
      <p:sp>
        <p:nvSpPr>
          <p:cNvPr id="57" name="Shape 55"/>
          <p:cNvSpPr/>
          <p:nvPr/>
        </p:nvSpPr>
        <p:spPr>
          <a:xfrm>
            <a:off x="5230368" y="4983480"/>
            <a:ext cx="1371600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5875">
            <a:solidFill>
              <a:srgbClr val="DDE3E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76088" y="49834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24"/>
              </a:lnSpc>
              <a:buNone/>
            </a:pPr>
            <a:r>
              <a:rPr lang="en-US" sz="8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완주 · 거치대 복귀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6803136" y="4983480"/>
            <a:ext cx="1371600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5875">
            <a:solidFill>
              <a:srgbClr val="DF8A16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848856" y="49834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24"/>
              </a:lnSpc>
              <a:buNone/>
            </a:pPr>
            <a:r>
              <a:rPr lang="en-US" sz="800" b="1" dirty="0">
                <a:solidFill>
                  <a:srgbClr val="9C60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1차 완료 → 충전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8174736" y="5257800"/>
            <a:ext cx="91440" cy="0"/>
          </a:xfrm>
          <a:prstGeom prst="line">
            <a:avLst/>
          </a:prstGeom>
          <a:noFill/>
          <a:ln w="17780">
            <a:solidFill>
              <a:srgbClr val="B9C2C9"/>
            </a:solidFill>
            <a:prstDash val="solid"/>
            <a:tailEnd type="triangle"/>
          </a:ln>
        </p:spPr>
      </p:sp>
      <p:sp>
        <p:nvSpPr>
          <p:cNvPr id="62" name="Shape 60"/>
          <p:cNvSpPr/>
          <p:nvPr/>
        </p:nvSpPr>
        <p:spPr>
          <a:xfrm>
            <a:off x="8284464" y="4983480"/>
            <a:ext cx="1097280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5875">
            <a:solidFill>
              <a:srgbClr val="DF8A16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330184" y="49834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88"/>
              </a:lnSpc>
              <a:buNone/>
            </a:pPr>
            <a:r>
              <a:rPr lang="en-US" sz="850" b="1" dirty="0">
                <a:solidFill>
                  <a:srgbClr val="9C60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2차 청소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10424160" y="4983480"/>
            <a:ext cx="1188720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5875">
            <a:solidFill>
              <a:srgbClr val="D93B41"/>
            </a:solidFill>
            <a:prstDash val="dash"/>
          </a:ln>
        </p:spPr>
      </p:sp>
      <p:sp>
        <p:nvSpPr>
          <p:cNvPr id="65" name="Text 63"/>
          <p:cNvSpPr/>
          <p:nvPr/>
        </p:nvSpPr>
        <p:spPr>
          <a:xfrm>
            <a:off x="10469880" y="498348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24"/>
              </a:lnSpc>
              <a:buNone/>
            </a:pPr>
            <a:r>
              <a:rPr lang="en-US" sz="800" b="1" dirty="0">
                <a:solidFill>
                  <a:srgbClr val="9E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청소 도중 방전</a:t>
            </a:r>
            <a:endParaRPr lang="en-US" sz="800" dirty="0"/>
          </a:p>
        </p:txBody>
      </p:sp>
      <p:sp>
        <p:nvSpPr>
          <p:cNvPr id="66" name="Text 64"/>
          <p:cNvSpPr/>
          <p:nvPr/>
        </p:nvSpPr>
        <p:spPr>
          <a:xfrm>
            <a:off x="566928" y="5669280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실패도 경로 안에 넣었다 — 만충으로도 안 되는 범위는 시작 전에 분할 청소로 분류하고, 도중에 방전돼도 복귀 후 이어서 진행한다.</a:t>
            </a:r>
            <a:endParaRPr lang="en-US" sz="1050" dirty="0"/>
          </a:p>
        </p:txBody>
      </p:sp>
      <p:sp>
        <p:nvSpPr>
          <p:cNvPr id="67" name="Shape 65"/>
          <p:cNvSpPr/>
          <p:nvPr/>
        </p:nvSpPr>
        <p:spPr>
          <a:xfrm>
            <a:off x="566928" y="5852160"/>
            <a:ext cx="11055096" cy="384048"/>
          </a:xfrm>
          <a:prstGeom prst="roundRect">
            <a:avLst>
              <a:gd name="adj" fmla="val 21429"/>
            </a:avLst>
          </a:prstGeom>
          <a:solidFill>
            <a:srgbClr val="EDF6F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13232" y="58521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데모</a:t>
            </a:r>
            <a:endParaRPr lang="en-US" sz="900" dirty="0"/>
          </a:p>
        </p:txBody>
      </p:sp>
      <p:sp>
        <p:nvSpPr>
          <p:cNvPr id="69" name="Text 67"/>
          <p:cNvSpPr/>
          <p:nvPr/>
        </p:nvSpPr>
        <p:spPr>
          <a:xfrm>
            <a:off x="1188720" y="5852160"/>
            <a:ext cx="10277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동선 전체는 잠시 후 데모에서 처음부터 끝까지 이어서 보여드리겠습니다.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본론 2 · 개선 ①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58521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spc="-60" kern="0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질문형 온보딩과 프리셋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66928" y="129844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개인화에 필요한 정보는 반드시 있어야 하는데, 사용자는 자기 유형을 모른다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965960"/>
            <a:ext cx="5029200" cy="1060704"/>
          </a:xfrm>
          <a:prstGeom prst="roundRect">
            <a:avLst>
              <a:gd name="adj" fmla="val 8621"/>
            </a:avLst>
          </a:prstGeom>
          <a:solidFill>
            <a:srgbClr val="F4F6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2057400"/>
            <a:ext cx="45902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기존의 불편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786384" y="2295144"/>
            <a:ext cx="4590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세부 유형은 계산에 반드시 필요하다. 그런데 사용자는 자기가 어떤 유형인지 알 방법이 없다.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081528" y="3063240"/>
            <a:ext cx="0" cy="219456"/>
          </a:xfrm>
          <a:prstGeom prst="line">
            <a:avLst/>
          </a:prstGeom>
          <a:noFill/>
          <a:ln w="17780">
            <a:solidFill>
              <a:srgbClr val="79838C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566928" y="3337560"/>
            <a:ext cx="5029200" cy="1060704"/>
          </a:xfrm>
          <a:prstGeom prst="roundRect">
            <a:avLst>
              <a:gd name="adj" fmla="val 8621"/>
            </a:avLst>
          </a:prstGeom>
          <a:solidFill>
            <a:srgbClr val="14181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86384" y="3429000"/>
            <a:ext cx="45902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개선한 것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786384" y="3666744"/>
            <a:ext cx="4590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생활 언어 질문 7개로 묻고, 답변에서 유형을 규칙 기반으로 추론한다. 한 번 답한 설정은 이름을 붙여 프리셋으로 저장한다.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081528" y="4434840"/>
            <a:ext cx="0" cy="219456"/>
          </a:xfrm>
          <a:prstGeom prst="line">
            <a:avLst/>
          </a:prstGeom>
          <a:noFill/>
          <a:ln w="17780">
            <a:solidFill>
              <a:srgbClr val="14181D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66928" y="4709160"/>
            <a:ext cx="5029200" cy="1060704"/>
          </a:xfrm>
          <a:prstGeom prst="roundRect">
            <a:avLst>
              <a:gd name="adj" fmla="val 8621"/>
            </a:avLst>
          </a:prstGeom>
          <a:solidFill>
            <a:srgbClr val="EDF6F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6384" y="4800600"/>
            <a:ext cx="45902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 가치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786384" y="5038344"/>
            <a:ext cx="4590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설정 화면을 한 번도 열지 않는다. 다음부터는 프리셋 한 번 눌러 끝난다.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724144" y="1929384"/>
            <a:ext cx="1674973" cy="1810512"/>
          </a:xfrm>
          <a:prstGeom prst="roundRect">
            <a:avLst>
              <a:gd name="adj" fmla="val 3276"/>
            </a:avLst>
          </a:prstGeom>
          <a:solidFill>
            <a:srgbClr val="F4F6F7"/>
          </a:solidFill>
          <a:ln w="12700">
            <a:solidFill>
              <a:srgbClr val="DDE3E7"/>
            </a:solidFill>
            <a:prstDash val="solid"/>
          </a:ln>
        </p:spPr>
      </p:sp>
      <p:pic>
        <p:nvPicPr>
          <p:cNvPr id="17" name="Image 0" descr="/Users/brothrone/Desktop/a_repo/shots/02_q_are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1965960"/>
            <a:ext cx="1601821" cy="1737360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7415784" y="1929384"/>
            <a:ext cx="887540" cy="1810512"/>
          </a:xfrm>
          <a:prstGeom prst="roundRect">
            <a:avLst>
              <a:gd name="adj" fmla="val 6182"/>
            </a:avLst>
          </a:prstGeom>
          <a:solidFill>
            <a:srgbClr val="F4F6F7"/>
          </a:solidFill>
          <a:ln w="12700">
            <a:solidFill>
              <a:srgbClr val="DDE3E7"/>
            </a:solidFill>
            <a:prstDash val="solid"/>
          </a:ln>
        </p:spPr>
      </p:sp>
      <p:pic>
        <p:nvPicPr>
          <p:cNvPr id="19" name="Image 1" descr="/Users/brothrone/Desktop/a_repo/shots/07_resu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965960"/>
            <a:ext cx="814388" cy="173736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9107424" y="1929384"/>
            <a:ext cx="875961" cy="1810512"/>
          </a:xfrm>
          <a:prstGeom prst="roundRect">
            <a:avLst>
              <a:gd name="adj" fmla="val 6263"/>
            </a:avLst>
          </a:prstGeom>
          <a:solidFill>
            <a:srgbClr val="F4F6F7"/>
          </a:solidFill>
          <a:ln w="12700">
            <a:solidFill>
              <a:srgbClr val="DDE3E7"/>
            </a:solidFill>
            <a:prstDash val="solid"/>
          </a:ln>
        </p:spPr>
      </p:sp>
      <p:pic>
        <p:nvPicPr>
          <p:cNvPr id="21" name="Image 2" descr="/Users/brothrone/Desktop/a_repo/shots/13_preset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1965960"/>
            <a:ext cx="802809" cy="173736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5623560" y="3776472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 7개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7178040" y="3776472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자동 판정 · 근거 제시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8869680" y="3776472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프리셋 저장 · 불러오기</a:t>
            </a:r>
            <a:endParaRPr lang="en-US" sz="850" dirty="0"/>
          </a:p>
        </p:txBody>
      </p:sp>
      <p:sp>
        <p:nvSpPr>
          <p:cNvPr id="25" name="Text 20"/>
          <p:cNvSpPr/>
          <p:nvPr/>
        </p:nvSpPr>
        <p:spPr>
          <a:xfrm>
            <a:off x="5760720" y="4206240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질문은 분기에만 쓰이지 않는다</a:t>
            </a:r>
            <a:endParaRPr lang="en-US" sz="1150" dirty="0"/>
          </a:p>
        </p:txBody>
      </p:sp>
      <p:sp>
        <p:nvSpPr>
          <p:cNvPr id="26" name="Shape 21"/>
          <p:cNvSpPr/>
          <p:nvPr/>
        </p:nvSpPr>
        <p:spPr>
          <a:xfrm>
            <a:off x="5760720" y="4566666"/>
            <a:ext cx="64008" cy="29261"/>
          </a:xfrm>
          <a:prstGeom prst="rect">
            <a:avLst/>
          </a:prstGeom>
          <a:solidFill>
            <a:srgbClr val="7983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5925312" y="4507992"/>
            <a:ext cx="5687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평수 → 필요 청소 시간</a:t>
            </a:r>
            <a:endParaRPr lang="en-US" sz="1050" dirty="0"/>
          </a:p>
        </p:txBody>
      </p:sp>
      <p:sp>
        <p:nvSpPr>
          <p:cNvPr id="28" name="Shape 23"/>
          <p:cNvSpPr/>
          <p:nvPr/>
        </p:nvSpPr>
        <p:spPr>
          <a:xfrm>
            <a:off x="5760720" y="4950714"/>
            <a:ext cx="64008" cy="29261"/>
          </a:xfrm>
          <a:prstGeom prst="rect">
            <a:avLst/>
          </a:prstGeom>
          <a:solidFill>
            <a:srgbClr val="7983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4"/>
          <p:cNvSpPr/>
          <p:nvPr/>
        </p:nvSpPr>
        <p:spPr>
          <a:xfrm>
            <a:off x="5925312" y="4892040"/>
            <a:ext cx="5687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카펫 · 반려동물 · 머리카락 → 흡입 부하 계수</a:t>
            </a:r>
            <a:endParaRPr lang="en-US" sz="1050" dirty="0"/>
          </a:p>
        </p:txBody>
      </p:sp>
      <p:sp>
        <p:nvSpPr>
          <p:cNvPr id="30" name="Shape 25"/>
          <p:cNvSpPr/>
          <p:nvPr/>
        </p:nvSpPr>
        <p:spPr>
          <a:xfrm>
            <a:off x="5760720" y="5334762"/>
            <a:ext cx="64008" cy="29261"/>
          </a:xfrm>
          <a:prstGeom prst="rect">
            <a:avLst/>
          </a:prstGeom>
          <a:solidFill>
            <a:srgbClr val="7983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5925312" y="5276088"/>
            <a:ext cx="5687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청소 시간대 → 무음 정책</a:t>
            </a:r>
            <a:endParaRPr lang="en-US" sz="1050" dirty="0"/>
          </a:p>
        </p:txBody>
      </p:sp>
      <p:sp>
        <p:nvSpPr>
          <p:cNvPr id="32" name="Shape 27"/>
          <p:cNvSpPr/>
          <p:nvPr/>
        </p:nvSpPr>
        <p:spPr>
          <a:xfrm>
            <a:off x="5760720" y="5718810"/>
            <a:ext cx="64008" cy="29261"/>
          </a:xfrm>
          <a:prstGeom prst="rect">
            <a:avLst/>
          </a:prstGeom>
          <a:solidFill>
            <a:srgbClr val="7983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5925312" y="5660136"/>
            <a:ext cx="5687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청소 · 보관 습관 → 세부 유형 분기</a:t>
            </a:r>
            <a:endParaRPr lang="en-US" sz="1050" dirty="0"/>
          </a:p>
        </p:txBody>
      </p:sp>
      <p:sp>
        <p:nvSpPr>
          <p:cNvPr id="34" name="Shape 29"/>
          <p:cNvSpPr/>
          <p:nvPr/>
        </p:nvSpPr>
        <p:spPr>
          <a:xfrm>
            <a:off x="566928" y="5852160"/>
            <a:ext cx="11055096" cy="384048"/>
          </a:xfrm>
          <a:prstGeom prst="roundRect">
            <a:avLst>
              <a:gd name="adj" fmla="val 21429"/>
            </a:avLst>
          </a:prstGeom>
          <a:solidFill>
            <a:srgbClr val="EDF6F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0"/>
          <p:cNvSpPr/>
          <p:nvPr/>
        </p:nvSpPr>
        <p:spPr>
          <a:xfrm>
            <a:off x="713232" y="58521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데모</a:t>
            </a:r>
            <a:endParaRPr lang="en-US" sz="900" dirty="0"/>
          </a:p>
        </p:txBody>
      </p:sp>
      <p:sp>
        <p:nvSpPr>
          <p:cNvPr id="36" name="Text 31"/>
          <p:cNvSpPr/>
          <p:nvPr/>
        </p:nvSpPr>
        <p:spPr>
          <a:xfrm>
            <a:off x="1188720" y="5852160"/>
            <a:ext cx="10277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질문에 답하면 유형이 자동으로 잡히고, 저장한 프리셋을 바로 불러오는 것까지 데모에서 보여드리겠습니다.</a:t>
            </a:r>
            <a:endParaRPr lang="en-US" sz="1050" dirty="0"/>
          </a:p>
        </p:txBody>
      </p:sp>
      <p:sp>
        <p:nvSpPr>
          <p:cNvPr id="37" name="Text 32"/>
          <p:cNvSpPr/>
          <p:nvPr/>
        </p:nvSpPr>
        <p:spPr>
          <a:xfrm>
            <a:off x="566928" y="6355080"/>
            <a:ext cx="11055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유형 정의와 분기 규칙은 Appendix A1 · A2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본론 3 · 개선 ②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58521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spc="-60" kern="0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여유 시간 기반 판정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66928" y="129844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출력은 숫자가 아니라 행동이어야 한다 — 그래서 색이 셋이다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965960"/>
            <a:ext cx="5029200" cy="1060704"/>
          </a:xfrm>
          <a:prstGeom prst="roundRect">
            <a:avLst>
              <a:gd name="adj" fmla="val 8621"/>
            </a:avLst>
          </a:prstGeom>
          <a:solidFill>
            <a:srgbClr val="F4F6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2057400"/>
            <a:ext cx="45902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기존의 불편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786384" y="2295144"/>
            <a:ext cx="4590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 고정 임계값은 틀린다. 같은 70%라도 평수·바닥 조건·모드가 다르면 완주 여부가 뒤집힌다.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081528" y="3063240"/>
            <a:ext cx="0" cy="219456"/>
          </a:xfrm>
          <a:prstGeom prst="line">
            <a:avLst/>
          </a:prstGeom>
          <a:noFill/>
          <a:ln w="17780">
            <a:solidFill>
              <a:srgbClr val="79838C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566928" y="3337560"/>
            <a:ext cx="5029200" cy="1060704"/>
          </a:xfrm>
          <a:prstGeom prst="roundRect">
            <a:avLst>
              <a:gd name="adj" fmla="val 8621"/>
            </a:avLst>
          </a:prstGeom>
          <a:solidFill>
            <a:srgbClr val="14181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86384" y="3429000"/>
            <a:ext cx="45902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개선한 것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786384" y="3666744"/>
            <a:ext cx="4590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잔량이 아니라 여유 시간으로 판정한다. 임계 잔량은 고정값이 아니라 목표 여유 시간에서 역산해 얻는다.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081528" y="4434840"/>
            <a:ext cx="0" cy="219456"/>
          </a:xfrm>
          <a:prstGeom prst="line">
            <a:avLst/>
          </a:prstGeom>
          <a:noFill/>
          <a:ln w="17780">
            <a:solidFill>
              <a:srgbClr val="14181D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66928" y="4709160"/>
            <a:ext cx="5029200" cy="1060704"/>
          </a:xfrm>
          <a:prstGeom prst="roundRect">
            <a:avLst>
              <a:gd name="adj" fmla="val 8621"/>
            </a:avLst>
          </a:prstGeom>
          <a:solidFill>
            <a:srgbClr val="EDF6F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6384" y="4800600"/>
            <a:ext cx="45902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 가치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786384" y="5038344"/>
            <a:ext cx="4590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“완주 가능”이라는 말을 믿을 수 있게 됐다. 머릿속 계산 세 가지를 앱이 대신한다.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760720" y="1965960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여유 시간 축으로 바꾸면 깨끗이 갈린다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760720" y="2313432"/>
            <a:ext cx="2011680" cy="548640"/>
          </a:xfrm>
          <a:prstGeom prst="rect">
            <a:avLst/>
          </a:prstGeom>
          <a:solidFill>
            <a:srgbClr val="D93B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760720" y="231343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필요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772400" y="2313432"/>
            <a:ext cx="1188720" cy="548640"/>
          </a:xfrm>
          <a:prstGeom prst="rect">
            <a:avLst/>
          </a:prstGeom>
          <a:solidFill>
            <a:srgbClr val="DF8A1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0" y="2313432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빠듯함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8961120" y="2313432"/>
            <a:ext cx="2651760" cy="548640"/>
          </a:xfrm>
          <a:prstGeom prst="rect">
            <a:avLst/>
          </a:prstGeom>
          <a:solidFill>
            <a:srgbClr val="1FA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961120" y="2313432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완주 가능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589520" y="289864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0분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8686800" y="289864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+5분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724144" y="3191256"/>
            <a:ext cx="834223" cy="1673352"/>
          </a:xfrm>
          <a:prstGeom prst="roundRect">
            <a:avLst>
              <a:gd name="adj" fmla="val 6577"/>
            </a:avLst>
          </a:prstGeom>
          <a:solidFill>
            <a:srgbClr val="F4F6F7"/>
          </a:solidFill>
          <a:ln w="12700">
            <a:solidFill>
              <a:srgbClr val="DDE3E7"/>
            </a:solidFill>
            <a:prstDash val="solid"/>
          </a:ln>
        </p:spPr>
      </p:sp>
      <p:pic>
        <p:nvPicPr>
          <p:cNvPr id="26" name="Image 0" descr="/Users/brothrone/Desktop/a_repo/shots/08_coach_ok_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3227832"/>
            <a:ext cx="761071" cy="1600200"/>
          </a:xfrm>
          <a:prstGeom prst="rect">
            <a:avLst/>
          </a:prstGeom>
        </p:spPr>
      </p:pic>
      <p:sp>
        <p:nvSpPr>
          <p:cNvPr id="27" name="Text 24"/>
          <p:cNvSpPr/>
          <p:nvPr/>
        </p:nvSpPr>
        <p:spPr>
          <a:xfrm>
            <a:off x="5394960" y="4919472"/>
            <a:ext cx="149259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여유 +15분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7690104" y="3191256"/>
            <a:ext cx="812581" cy="1673352"/>
          </a:xfrm>
          <a:prstGeom prst="roundRect">
            <a:avLst>
              <a:gd name="adj" fmla="val 6752"/>
            </a:avLst>
          </a:prstGeom>
          <a:solidFill>
            <a:srgbClr val="F4F6F7"/>
          </a:solidFill>
          <a:ln w="12700">
            <a:solidFill>
              <a:srgbClr val="DDE3E7"/>
            </a:solidFill>
            <a:prstDash val="solid"/>
          </a:ln>
        </p:spPr>
      </p:sp>
      <p:pic>
        <p:nvPicPr>
          <p:cNvPr id="29" name="Image 1" descr="/Users/brothrone/Desktop/a_repo/shots/09_coach_tight_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80" y="3227832"/>
            <a:ext cx="739429" cy="1600200"/>
          </a:xfrm>
          <a:prstGeom prst="rect">
            <a:avLst/>
          </a:prstGeom>
        </p:spPr>
      </p:pic>
      <p:sp>
        <p:nvSpPr>
          <p:cNvPr id="30" name="Text 26"/>
          <p:cNvSpPr/>
          <p:nvPr/>
        </p:nvSpPr>
        <p:spPr>
          <a:xfrm>
            <a:off x="7360920" y="4919472"/>
            <a:ext cx="147094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C60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여유 +2분</a:t>
            </a:r>
            <a:endParaRPr lang="en-US" sz="950" dirty="0"/>
          </a:p>
        </p:txBody>
      </p:sp>
      <p:sp>
        <p:nvSpPr>
          <p:cNvPr id="31" name="Shape 27"/>
          <p:cNvSpPr/>
          <p:nvPr/>
        </p:nvSpPr>
        <p:spPr>
          <a:xfrm>
            <a:off x="9656064" y="3191256"/>
            <a:ext cx="812581" cy="1673352"/>
          </a:xfrm>
          <a:prstGeom prst="roundRect">
            <a:avLst>
              <a:gd name="adj" fmla="val 6752"/>
            </a:avLst>
          </a:prstGeom>
          <a:solidFill>
            <a:srgbClr val="F4F6F7"/>
          </a:solidFill>
          <a:ln w="12700">
            <a:solidFill>
              <a:srgbClr val="DDE3E7"/>
            </a:solidFill>
            <a:prstDash val="solid"/>
          </a:ln>
        </p:spPr>
      </p:sp>
      <p:pic>
        <p:nvPicPr>
          <p:cNvPr id="32" name="Image 2" descr="/Users/brothrone/Desktop/a_repo/shots/10_coach_charge_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0" y="3227832"/>
            <a:ext cx="739429" cy="1600200"/>
          </a:xfrm>
          <a:prstGeom prst="rect">
            <a:avLst/>
          </a:prstGeom>
        </p:spPr>
      </p:pic>
      <p:sp>
        <p:nvSpPr>
          <p:cNvPr id="33" name="Text 28"/>
          <p:cNvSpPr/>
          <p:nvPr/>
        </p:nvSpPr>
        <p:spPr>
          <a:xfrm>
            <a:off x="9326880" y="4919472"/>
            <a:ext cx="147094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E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여유 −9분</a:t>
            </a:r>
            <a:endParaRPr lang="en-US" sz="950" dirty="0"/>
          </a:p>
        </p:txBody>
      </p:sp>
      <p:sp>
        <p:nvSpPr>
          <p:cNvPr id="34" name="Text 29"/>
          <p:cNvSpPr/>
          <p:nvPr/>
        </p:nvSpPr>
        <p:spPr>
          <a:xfrm>
            <a:off x="5760720" y="527608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 지표(예상 사용 시간 · 여유 시간 · 청소 후 잔량)는 구역을 하나 누를 때마다 전부 다시 계산된다.</a:t>
            </a:r>
            <a:endParaRPr lang="en-US" sz="950" dirty="0"/>
          </a:p>
        </p:txBody>
      </p:sp>
      <p:sp>
        <p:nvSpPr>
          <p:cNvPr id="35" name="Shape 30"/>
          <p:cNvSpPr/>
          <p:nvPr/>
        </p:nvSpPr>
        <p:spPr>
          <a:xfrm>
            <a:off x="566928" y="5852160"/>
            <a:ext cx="11055096" cy="384048"/>
          </a:xfrm>
          <a:prstGeom prst="roundRect">
            <a:avLst>
              <a:gd name="adj" fmla="val 21429"/>
            </a:avLst>
          </a:prstGeom>
          <a:solidFill>
            <a:srgbClr val="EDF6F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713232" y="58521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데모</a:t>
            </a:r>
            <a:endParaRPr lang="en-US" sz="900" dirty="0"/>
          </a:p>
        </p:txBody>
      </p:sp>
      <p:sp>
        <p:nvSpPr>
          <p:cNvPr id="37" name="Text 32"/>
          <p:cNvSpPr/>
          <p:nvPr/>
        </p:nvSpPr>
        <p:spPr>
          <a:xfrm>
            <a:off x="1188720" y="5852160"/>
            <a:ext cx="10277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잔량인데 구역을 바꾸면 판정이 실시간으로 뒤집히는 것은 데모에서 보여드리겠습니다.</a:t>
            </a:r>
            <a:endParaRPr lang="en-US" sz="1050" dirty="0"/>
          </a:p>
        </p:txBody>
      </p:sp>
      <p:sp>
        <p:nvSpPr>
          <p:cNvPr id="38" name="Text 33"/>
          <p:cNvSpPr/>
          <p:nvPr/>
        </p:nvSpPr>
        <p:spPr>
          <a:xfrm>
            <a:off x="566928" y="6355080"/>
            <a:ext cx="11055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임계값 역산 근거는 Appendix A4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본론 4 · 개선 ③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58521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spc="-60" kern="0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배터리 수명(SOH) 반영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66928" y="129844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수명을 넣자 “오늘 할 수 있는 일”이 배터리 나이까지 반영하게 됐다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965960"/>
            <a:ext cx="5029200" cy="1060704"/>
          </a:xfrm>
          <a:prstGeom prst="roundRect">
            <a:avLst>
              <a:gd name="adj" fmla="val 8621"/>
            </a:avLst>
          </a:prstGeom>
          <a:solidFill>
            <a:srgbClr val="F4F6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2057400"/>
            <a:ext cx="45902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기존의 불편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786384" y="2295144"/>
            <a:ext cx="4590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기존 안내는 SOC만 본다. 배터리가 늙어도 같은 82%면 같은 시간을 쓸 수 있다고 말한다 — 그래서 중간에 꺼진다.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081528" y="3063240"/>
            <a:ext cx="0" cy="219456"/>
          </a:xfrm>
          <a:prstGeom prst="line">
            <a:avLst/>
          </a:prstGeom>
          <a:noFill/>
          <a:ln w="17780">
            <a:solidFill>
              <a:srgbClr val="79838C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566928" y="3337560"/>
            <a:ext cx="5029200" cy="1060704"/>
          </a:xfrm>
          <a:prstGeom prst="roundRect">
            <a:avLst>
              <a:gd name="adj" fmla="val 8621"/>
            </a:avLst>
          </a:prstGeom>
          <a:solidFill>
            <a:srgbClr val="14181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86384" y="3429000"/>
            <a:ext cx="45902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개선한 것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786384" y="3666744"/>
            <a:ext cx="4590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SOH를 실효 소모율에 반영했다. SOH가 낮을수록 소모 속도가 커져 가용 시간이 짧게 산출된다.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081528" y="4434840"/>
            <a:ext cx="0" cy="219456"/>
          </a:xfrm>
          <a:prstGeom prst="line">
            <a:avLst/>
          </a:prstGeom>
          <a:noFill/>
          <a:ln w="17780">
            <a:solidFill>
              <a:srgbClr val="14181D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66928" y="4709160"/>
            <a:ext cx="5029200" cy="1060704"/>
          </a:xfrm>
          <a:prstGeom prst="roundRect">
            <a:avLst>
              <a:gd name="adj" fmla="val 8621"/>
            </a:avLst>
          </a:prstGeom>
          <a:solidFill>
            <a:srgbClr val="EDF6F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6384" y="4800600"/>
            <a:ext cx="45902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 가치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786384" y="5038344"/>
            <a:ext cx="4590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수명이 닳아도 안내가 계속 맞는다. 교체 시점(SOH 80% 미만)도 미리 알려준다.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724144" y="1929384"/>
            <a:ext cx="1203886" cy="2450592"/>
          </a:xfrm>
          <a:prstGeom prst="roundRect">
            <a:avLst>
              <a:gd name="adj" fmla="val 4557"/>
            </a:avLst>
          </a:prstGeom>
          <a:solidFill>
            <a:srgbClr val="F4F6F7"/>
          </a:solidFill>
          <a:ln w="12700">
            <a:solidFill>
              <a:srgbClr val="DDE3E7"/>
            </a:solidFill>
            <a:prstDash val="solid"/>
          </a:ln>
        </p:spPr>
      </p:sp>
      <p:pic>
        <p:nvPicPr>
          <p:cNvPr id="17" name="Image 0" descr="/Users/brothrone/Desktop/a_repo/shots/08_coach_ok_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1965960"/>
            <a:ext cx="1130734" cy="237744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5394960" y="4434840"/>
            <a:ext cx="18622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SOH 100% · 신품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5394960" y="4645152"/>
            <a:ext cx="18622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예상 37분 · 여유 +15분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7598664" y="1929384"/>
            <a:ext cx="1171732" cy="2450592"/>
          </a:xfrm>
          <a:prstGeom prst="roundRect">
            <a:avLst>
              <a:gd name="adj" fmla="val 4682"/>
            </a:avLst>
          </a:prstGeom>
          <a:solidFill>
            <a:srgbClr val="F4F6F7"/>
          </a:solidFill>
          <a:ln w="12700">
            <a:solidFill>
              <a:srgbClr val="DDE3E7"/>
            </a:solidFill>
            <a:prstDash val="solid"/>
          </a:ln>
        </p:spPr>
      </p:sp>
      <p:pic>
        <p:nvPicPr>
          <p:cNvPr id="21" name="Image 1" descr="/Users/brothrone/Desktop/a_repo/shots/14_soh_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965960"/>
            <a:ext cx="1098580" cy="237744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7269480" y="4434840"/>
            <a:ext cx="18301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C60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SOH 78% · 교체 권장</a:t>
            </a:r>
            <a:endParaRPr lang="en-US" sz="950" dirty="0"/>
          </a:p>
        </p:txBody>
      </p:sp>
      <p:sp>
        <p:nvSpPr>
          <p:cNvPr id="23" name="Text 19"/>
          <p:cNvSpPr/>
          <p:nvPr/>
        </p:nvSpPr>
        <p:spPr>
          <a:xfrm>
            <a:off x="7269480" y="4645152"/>
            <a:ext cx="18301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예상 29분 · 여유 +7분</a:t>
            </a:r>
            <a:endParaRPr lang="en-US" sz="850" dirty="0"/>
          </a:p>
        </p:txBody>
      </p:sp>
      <p:sp>
        <p:nvSpPr>
          <p:cNvPr id="24" name="Text 20"/>
          <p:cNvSpPr/>
          <p:nvPr/>
        </p:nvSpPr>
        <p:spPr>
          <a:xfrm>
            <a:off x="5760720" y="4983480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SOC 82% · 같은 24평 · 같은 5구역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9692640" y="1965960"/>
            <a:ext cx="1920240" cy="2377440"/>
          </a:xfrm>
          <a:prstGeom prst="roundRect">
            <a:avLst>
              <a:gd name="adj" fmla="val 4762"/>
            </a:avLst>
          </a:prstGeom>
          <a:solidFill>
            <a:srgbClr val="F4F6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9857232" y="2130552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만충 가동</a:t>
            </a:r>
            <a:endParaRPr lang="en-US" sz="900" dirty="0"/>
          </a:p>
        </p:txBody>
      </p:sp>
      <p:sp>
        <p:nvSpPr>
          <p:cNvPr id="27" name="Text 23"/>
          <p:cNvSpPr/>
          <p:nvPr/>
        </p:nvSpPr>
        <p:spPr>
          <a:xfrm>
            <a:off x="9857232" y="24231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47분</a:t>
            </a:r>
            <a:endParaRPr lang="en-US" sz="2400" dirty="0"/>
          </a:p>
        </p:txBody>
      </p:sp>
      <p:sp>
        <p:nvSpPr>
          <p:cNvPr id="28" name="Text 24"/>
          <p:cNvSpPr/>
          <p:nvPr/>
        </p:nvSpPr>
        <p:spPr>
          <a:xfrm>
            <a:off x="9857232" y="288036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SOH 100%</a:t>
            </a:r>
            <a:endParaRPr lang="en-US" sz="900" dirty="0"/>
          </a:p>
        </p:txBody>
      </p:sp>
      <p:sp>
        <p:nvSpPr>
          <p:cNvPr id="29" name="Shape 25"/>
          <p:cNvSpPr/>
          <p:nvPr/>
        </p:nvSpPr>
        <p:spPr>
          <a:xfrm>
            <a:off x="10652760" y="3172968"/>
            <a:ext cx="0" cy="256032"/>
          </a:xfrm>
          <a:prstGeom prst="line">
            <a:avLst/>
          </a:prstGeom>
          <a:noFill/>
          <a:ln w="17780">
            <a:solidFill>
              <a:srgbClr val="9C6008"/>
            </a:solidFill>
            <a:prstDash val="solid"/>
            <a:tailEnd type="triangle"/>
          </a:ln>
        </p:spPr>
      </p:sp>
      <p:sp>
        <p:nvSpPr>
          <p:cNvPr id="30" name="Text 26"/>
          <p:cNvSpPr/>
          <p:nvPr/>
        </p:nvSpPr>
        <p:spPr>
          <a:xfrm>
            <a:off x="9857232" y="35387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C60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37분</a:t>
            </a:r>
            <a:endParaRPr lang="en-US" sz="2400" dirty="0"/>
          </a:p>
        </p:txBody>
      </p:sp>
      <p:sp>
        <p:nvSpPr>
          <p:cNvPr id="31" name="Text 27"/>
          <p:cNvSpPr/>
          <p:nvPr/>
        </p:nvSpPr>
        <p:spPr>
          <a:xfrm>
            <a:off x="9857232" y="399592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C60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SOH 78% · −20%</a:t>
            </a:r>
            <a:endParaRPr lang="en-US" sz="900" dirty="0"/>
          </a:p>
        </p:txBody>
      </p:sp>
      <p:sp>
        <p:nvSpPr>
          <p:cNvPr id="32" name="Shape 28"/>
          <p:cNvSpPr/>
          <p:nvPr/>
        </p:nvSpPr>
        <p:spPr>
          <a:xfrm>
            <a:off x="566928" y="5852160"/>
            <a:ext cx="11055096" cy="384048"/>
          </a:xfrm>
          <a:prstGeom prst="roundRect">
            <a:avLst>
              <a:gd name="adj" fmla="val 21429"/>
            </a:avLst>
          </a:prstGeom>
          <a:solidFill>
            <a:srgbClr val="EDF6F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713232" y="58521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데모</a:t>
            </a:r>
            <a:endParaRPr lang="en-US" sz="900" dirty="0"/>
          </a:p>
        </p:txBody>
      </p:sp>
      <p:sp>
        <p:nvSpPr>
          <p:cNvPr id="34" name="Text 30"/>
          <p:cNvSpPr/>
          <p:nvPr/>
        </p:nvSpPr>
        <p:spPr>
          <a:xfrm>
            <a:off x="1188720" y="5852160"/>
            <a:ext cx="10277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데모에서 SOH를 내리면 판정이 어떻게 바뀌는지 바로 보여드리겠습니다.</a:t>
            </a:r>
            <a:endParaRPr lang="en-US" sz="1050" dirty="0"/>
          </a:p>
        </p:txBody>
      </p:sp>
      <p:sp>
        <p:nvSpPr>
          <p:cNvPr id="35" name="Text 31"/>
          <p:cNvSpPr/>
          <p:nvPr/>
        </p:nvSpPr>
        <p:spPr>
          <a:xfrm>
            <a:off x="566928" y="6355080"/>
            <a:ext cx="11055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SOH 적용 방식과 수명 판정 기준은 Appendix A7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본론 5 · 개선 ④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58521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spc="-60" kern="0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기기 · IoT 연동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66928" y="129844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판정은 한 곳에서, 표현은 세 곳에서 — 화면을 보지 않아도 안내가 닿는다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30352" y="1929384"/>
            <a:ext cx="5483352" cy="3319272"/>
          </a:xfrm>
          <a:prstGeom prst="roundRect">
            <a:avLst>
              <a:gd name="adj" fmla="val 1653"/>
            </a:avLst>
          </a:prstGeom>
          <a:solidFill>
            <a:srgbClr val="F4F6F7"/>
          </a:solidFill>
          <a:ln w="12700">
            <a:solidFill>
              <a:srgbClr val="DDE3E7"/>
            </a:solidFill>
            <a:prstDash val="solid"/>
          </a:ln>
        </p:spPr>
      </p:sp>
      <p:pic>
        <p:nvPicPr>
          <p:cNvPr id="6" name="Image 0" descr="/Users/brothrone/Desktop/a_repo/shots/20_desktop_l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965960"/>
            <a:ext cx="5410200" cy="32461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5321808"/>
            <a:ext cx="541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앱에서 설정하면 기기 LCD와 IoT 스피커가 함께 반응한다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7315200" y="1965960"/>
            <a:ext cx="4297680" cy="621792"/>
          </a:xfrm>
          <a:prstGeom prst="roundRect">
            <a:avLst>
              <a:gd name="adj" fmla="val 13235"/>
            </a:avLst>
          </a:prstGeom>
          <a:solidFill>
            <a:srgbClr val="F4F6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479792" y="2167128"/>
            <a:ext cx="82296" cy="219456"/>
          </a:xfrm>
          <a:prstGeom prst="rect">
            <a:avLst/>
          </a:prstGeom>
          <a:solidFill>
            <a:srgbClr val="14181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699248" y="1965960"/>
            <a:ext cx="822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판정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549640" y="1965960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앱이 잔량 · 수명 · 환경을 읽어 상태를 확정한다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7315200" y="2679192"/>
            <a:ext cx="4297680" cy="621792"/>
          </a:xfrm>
          <a:prstGeom prst="roundRect">
            <a:avLst>
              <a:gd name="adj" fmla="val 13235"/>
            </a:avLst>
          </a:prstGeom>
          <a:solidFill>
            <a:srgbClr val="F4F6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479792" y="2880360"/>
            <a:ext cx="82296" cy="219456"/>
          </a:xfrm>
          <a:prstGeom prst="rect">
            <a:avLst/>
          </a:prstGeom>
          <a:solidFill>
            <a:srgbClr val="1FA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699248" y="2679192"/>
            <a:ext cx="822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동기화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549640" y="2679192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판정이 기기 LCD에 그대로 표시된다 — 폰을 켜지 않아도 본체에서 확인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7315200" y="3392424"/>
            <a:ext cx="4297680" cy="621792"/>
          </a:xfrm>
          <a:prstGeom prst="roundRect">
            <a:avLst>
              <a:gd name="adj" fmla="val 13235"/>
            </a:avLst>
          </a:prstGeom>
          <a:solidFill>
            <a:srgbClr val="F4F6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479792" y="3593592"/>
            <a:ext cx="82296" cy="219456"/>
          </a:xfrm>
          <a:prstGeom prst="rect">
            <a:avLst/>
          </a:prstGeom>
          <a:solidFill>
            <a:srgbClr val="DF8A1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699248" y="3392424"/>
            <a:ext cx="822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발화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8549640" y="3392424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IoT 스피커가 유형별 문장을 읽어준다 — 청소하면서 손을 쓰지 않고 듣는다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7315200" y="4105656"/>
            <a:ext cx="4297680" cy="621792"/>
          </a:xfrm>
          <a:prstGeom prst="roundRect">
            <a:avLst>
              <a:gd name="adj" fmla="val 13235"/>
            </a:avLst>
          </a:prstGeom>
          <a:solidFill>
            <a:srgbClr val="F4F6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479792" y="4306824"/>
            <a:ext cx="82296" cy="219456"/>
          </a:xfrm>
          <a:prstGeom prst="rect">
            <a:avLst/>
          </a:prstGeom>
          <a:solidFill>
            <a:srgbClr val="D93B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699248" y="4105656"/>
            <a:ext cx="822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상황 인지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8549640" y="4105656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심야이거나 영유아 가정의 낮잠 시간대면 소리를 끄고 화면 안내만 남긴다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7315200" y="4892040"/>
            <a:ext cx="4297680" cy="786384"/>
          </a:xfrm>
          <a:prstGeom prst="roundRect">
            <a:avLst>
              <a:gd name="adj" fmla="val 10465"/>
            </a:avLst>
          </a:prstGeom>
          <a:solidFill>
            <a:srgbClr val="EDF6F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498080" y="4983480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네트워크 없이도 전 구간 동작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7498080" y="5221224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설치형 웹앱(PWA)으로 음성 클립까지 캐시해, 발표장 네트워크가 끊겨도 온보딩부터 코칭·음성까지 그대로 돈다.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566928" y="5852160"/>
            <a:ext cx="11055096" cy="384048"/>
          </a:xfrm>
          <a:prstGeom prst="roundRect">
            <a:avLst>
              <a:gd name="adj" fmla="val 21429"/>
            </a:avLst>
          </a:prstGeom>
          <a:solidFill>
            <a:srgbClr val="EDF6F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13232" y="58521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데모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1188720" y="5852160"/>
            <a:ext cx="10277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앱에서 바꾼 설정이 기기 화면과 음성으로 함께 나가는 것을 데모에서 보여드리겠습니다.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결론 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58521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spc="-60" kern="0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개선 전후 비교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66928" y="129844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여기서부터 실제 앱을 띄워놓고 보여드립니다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965960"/>
            <a:ext cx="6035040" cy="429768"/>
          </a:xfrm>
          <a:prstGeom prst="rect">
            <a:avLst/>
          </a:prstGeom>
          <a:solidFill>
            <a:srgbClr val="14181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965960"/>
            <a:ext cx="66202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88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축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503274" y="1965960"/>
            <a:ext cx="192938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88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기존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3615538" y="1965960"/>
            <a:ext cx="289499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88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지금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66928" y="2395728"/>
            <a:ext cx="603504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" y="2395728"/>
            <a:ext cx="66202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88"/>
              </a:lnSpc>
              <a:buNone/>
            </a:pPr>
            <a:r>
              <a:rPr lang="en-US" sz="95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정보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503274" y="2395728"/>
            <a:ext cx="192938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잔량 % + LED 칸 수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615538" y="2395728"/>
            <a:ext cx="289499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3색 판정 + 세 지표 + 행동 문장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66928" y="2825496"/>
            <a:ext cx="6035040" cy="429768"/>
          </a:xfrm>
          <a:prstGeom prst="rect">
            <a:avLst/>
          </a:prstGeom>
          <a:solidFill>
            <a:srgbClr val="F4F6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2825496"/>
            <a:ext cx="66202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88"/>
              </a:lnSpc>
              <a:buNone/>
            </a:pPr>
            <a:r>
              <a:rPr lang="en-US" sz="95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입력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503274" y="2825496"/>
            <a:ext cx="192938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자기 유형을 알아야 함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615538" y="2825496"/>
            <a:ext cx="289499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생활 언어 질문 7개 · 프리셋 재사용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66928" y="3255264"/>
            <a:ext cx="603504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" y="3255264"/>
            <a:ext cx="66202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88"/>
              </a:lnSpc>
              <a:buNone/>
            </a:pPr>
            <a:r>
              <a:rPr lang="en-US" sz="95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수명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503274" y="3255264"/>
            <a:ext cx="192938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 시야 밖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615538" y="3255264"/>
            <a:ext cx="289499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SOH 반영 예측 + 교체 시점 안내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66928" y="3685032"/>
            <a:ext cx="6035040" cy="429768"/>
          </a:xfrm>
          <a:prstGeom prst="rect">
            <a:avLst/>
          </a:prstGeom>
          <a:solidFill>
            <a:srgbClr val="F4F6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8368" y="3685032"/>
            <a:ext cx="66202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88"/>
              </a:lnSpc>
              <a:buNone/>
            </a:pPr>
            <a:r>
              <a:rPr lang="en-US" sz="95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전달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503274" y="3685032"/>
            <a:ext cx="192938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기기 화면 하나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3615538" y="3685032"/>
            <a:ext cx="289499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· 기기 LCD · IoT 스피커 동시 반응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66928" y="4114800"/>
            <a:ext cx="603504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8368" y="4114800"/>
            <a:ext cx="66202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88"/>
              </a:lnSpc>
              <a:buNone/>
            </a:pPr>
            <a:r>
              <a:rPr lang="en-US" sz="95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정확도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1503274" y="4114800"/>
            <a:ext cx="192938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예측 오차 3.56분 · 판정 90.0%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615538" y="4114800"/>
            <a:ext cx="289499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예측 오차 0.98분 · 판정 96.0%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66928" y="4544568"/>
            <a:ext cx="6035040" cy="429768"/>
          </a:xfrm>
          <a:prstGeom prst="rect">
            <a:avLst/>
          </a:prstGeom>
          <a:solidFill>
            <a:srgbClr val="F4F6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8368" y="4544568"/>
            <a:ext cx="66202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88"/>
              </a:lnSpc>
              <a:buNone/>
            </a:pPr>
            <a:r>
              <a:rPr lang="en-US" sz="95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실패 처리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1503274" y="4544568"/>
            <a:ext cx="192938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방전되면 그냥 멈춤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3615538" y="4544568"/>
            <a:ext cx="289499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분할 청소 · 도중 방전 복귀까지 설계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867144" y="1929384"/>
            <a:ext cx="1190752" cy="2084832"/>
          </a:xfrm>
          <a:prstGeom prst="roundRect">
            <a:avLst>
              <a:gd name="adj" fmla="val 4608"/>
            </a:avLst>
          </a:prstGeom>
          <a:solidFill>
            <a:srgbClr val="F4F6F7"/>
          </a:solidFill>
          <a:ln w="12700">
            <a:solidFill>
              <a:srgbClr val="DDE3E7"/>
            </a:solidFill>
            <a:prstDash val="solid"/>
          </a:ln>
        </p:spPr>
      </p:sp>
      <p:pic>
        <p:nvPicPr>
          <p:cNvPr id="34" name="Image 0" descr="/Users/brothrone/Desktop/a_repo/shots/01_onboard_ty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1965960"/>
            <a:ext cx="1117600" cy="2011680"/>
          </a:xfrm>
          <a:prstGeom prst="rect">
            <a:avLst/>
          </a:prstGeom>
        </p:spPr>
      </p:pic>
      <p:sp>
        <p:nvSpPr>
          <p:cNvPr id="35" name="Text 32"/>
          <p:cNvSpPr/>
          <p:nvPr/>
        </p:nvSpPr>
        <p:spPr>
          <a:xfrm>
            <a:off x="6812280" y="406908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유형 · 프리셋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7964424" y="2971800"/>
            <a:ext cx="128016" cy="0"/>
          </a:xfrm>
          <a:prstGeom prst="line">
            <a:avLst/>
          </a:prstGeom>
          <a:noFill/>
          <a:ln w="17780">
            <a:solidFill>
              <a:srgbClr val="B9C2C9"/>
            </a:solidFill>
            <a:prstDash val="solid"/>
            <a:tailEnd type="triangle"/>
          </a:ln>
        </p:spPr>
      </p:sp>
      <p:sp>
        <p:nvSpPr>
          <p:cNvPr id="37" name="Shape 34"/>
          <p:cNvSpPr/>
          <p:nvPr/>
        </p:nvSpPr>
        <p:spPr>
          <a:xfrm>
            <a:off x="8074152" y="1929384"/>
            <a:ext cx="1439973" cy="2084832"/>
          </a:xfrm>
          <a:prstGeom prst="roundRect">
            <a:avLst>
              <a:gd name="adj" fmla="val 3810"/>
            </a:avLst>
          </a:prstGeom>
          <a:solidFill>
            <a:srgbClr val="F4F6F7"/>
          </a:solidFill>
          <a:ln w="12700">
            <a:solidFill>
              <a:srgbClr val="DDE3E7"/>
            </a:solidFill>
            <a:prstDash val="solid"/>
          </a:ln>
        </p:spPr>
      </p:sp>
      <p:pic>
        <p:nvPicPr>
          <p:cNvPr id="38" name="Image 1" descr="/Users/brothrone/Desktop/a_repo/shots/04_q_t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0728" y="1965960"/>
            <a:ext cx="1366821" cy="2011680"/>
          </a:xfrm>
          <a:prstGeom prst="rect">
            <a:avLst/>
          </a:prstGeom>
        </p:spPr>
      </p:pic>
      <p:sp>
        <p:nvSpPr>
          <p:cNvPr id="39" name="Text 35"/>
          <p:cNvSpPr/>
          <p:nvPr/>
        </p:nvSpPr>
        <p:spPr>
          <a:xfrm>
            <a:off x="8019288" y="406908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 7개</a:t>
            </a:r>
            <a:endParaRPr lang="en-US" sz="850" dirty="0"/>
          </a:p>
        </p:txBody>
      </p:sp>
      <p:sp>
        <p:nvSpPr>
          <p:cNvPr id="40" name="Shape 36"/>
          <p:cNvSpPr/>
          <p:nvPr/>
        </p:nvSpPr>
        <p:spPr>
          <a:xfrm>
            <a:off x="9171432" y="2971800"/>
            <a:ext cx="128016" cy="0"/>
          </a:xfrm>
          <a:prstGeom prst="line">
            <a:avLst/>
          </a:prstGeom>
          <a:noFill/>
          <a:ln w="17780">
            <a:solidFill>
              <a:srgbClr val="B9C2C9"/>
            </a:solidFill>
            <a:prstDash val="solid"/>
            <a:tailEnd type="triangle"/>
          </a:ln>
        </p:spPr>
      </p:sp>
      <p:sp>
        <p:nvSpPr>
          <p:cNvPr id="41" name="Shape 37"/>
          <p:cNvSpPr/>
          <p:nvPr/>
        </p:nvSpPr>
        <p:spPr>
          <a:xfrm>
            <a:off x="9281160" y="1929384"/>
            <a:ext cx="1016127" cy="2084832"/>
          </a:xfrm>
          <a:prstGeom prst="roundRect">
            <a:avLst>
              <a:gd name="adj" fmla="val 5399"/>
            </a:avLst>
          </a:prstGeom>
          <a:solidFill>
            <a:srgbClr val="F4F6F7"/>
          </a:solidFill>
          <a:ln w="12700">
            <a:solidFill>
              <a:srgbClr val="DDE3E7"/>
            </a:solidFill>
            <a:prstDash val="solid"/>
          </a:ln>
        </p:spPr>
      </p:sp>
      <p:pic>
        <p:nvPicPr>
          <p:cNvPr id="42" name="Image 2" descr="/Users/brothrone/Desktop/a_repo/shots/07_resul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17736" y="1965960"/>
            <a:ext cx="942975" cy="2011680"/>
          </a:xfrm>
          <a:prstGeom prst="rect">
            <a:avLst/>
          </a:prstGeom>
        </p:spPr>
      </p:pic>
      <p:sp>
        <p:nvSpPr>
          <p:cNvPr id="43" name="Text 38"/>
          <p:cNvSpPr/>
          <p:nvPr/>
        </p:nvSpPr>
        <p:spPr>
          <a:xfrm>
            <a:off x="9226296" y="406908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자동 판정</a:t>
            </a:r>
            <a:endParaRPr lang="en-US" sz="850" dirty="0"/>
          </a:p>
        </p:txBody>
      </p:sp>
      <p:sp>
        <p:nvSpPr>
          <p:cNvPr id="44" name="Shape 39"/>
          <p:cNvSpPr/>
          <p:nvPr/>
        </p:nvSpPr>
        <p:spPr>
          <a:xfrm>
            <a:off x="10378440" y="2971800"/>
            <a:ext cx="128016" cy="0"/>
          </a:xfrm>
          <a:prstGeom prst="line">
            <a:avLst/>
          </a:prstGeom>
          <a:noFill/>
          <a:ln w="17780">
            <a:solidFill>
              <a:srgbClr val="B9C2C9"/>
            </a:solidFill>
            <a:prstDash val="solid"/>
            <a:tailEnd type="triangle"/>
          </a:ln>
        </p:spPr>
      </p:sp>
      <p:sp>
        <p:nvSpPr>
          <p:cNvPr id="45" name="Shape 40"/>
          <p:cNvSpPr/>
          <p:nvPr/>
        </p:nvSpPr>
        <p:spPr>
          <a:xfrm>
            <a:off x="10488168" y="1929384"/>
            <a:ext cx="1029927" cy="2084832"/>
          </a:xfrm>
          <a:prstGeom prst="roundRect">
            <a:avLst>
              <a:gd name="adj" fmla="val 5327"/>
            </a:avLst>
          </a:prstGeom>
          <a:solidFill>
            <a:srgbClr val="F4F6F7"/>
          </a:solidFill>
          <a:ln w="12700">
            <a:solidFill>
              <a:srgbClr val="DDE3E7"/>
            </a:solidFill>
            <a:prstDash val="solid"/>
          </a:ln>
        </p:spPr>
      </p:sp>
      <p:pic>
        <p:nvPicPr>
          <p:cNvPr id="46" name="Image 3" descr="/Users/brothrone/Desktop/a_repo/shots/08_coach_ok_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24744" y="1965960"/>
            <a:ext cx="956775" cy="2011680"/>
          </a:xfrm>
          <a:prstGeom prst="rect">
            <a:avLst/>
          </a:prstGeom>
        </p:spPr>
      </p:pic>
      <p:sp>
        <p:nvSpPr>
          <p:cNvPr id="47" name="Text 41"/>
          <p:cNvSpPr/>
          <p:nvPr/>
        </p:nvSpPr>
        <p:spPr>
          <a:xfrm>
            <a:off x="10433304" y="406908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코칭 화면</a:t>
            </a:r>
            <a:endParaRPr lang="en-US" sz="850" dirty="0"/>
          </a:p>
        </p:txBody>
      </p:sp>
      <p:sp>
        <p:nvSpPr>
          <p:cNvPr id="48" name="Text 42"/>
          <p:cNvSpPr/>
          <p:nvPr/>
        </p:nvSpPr>
        <p:spPr>
          <a:xfrm>
            <a:off x="6903720" y="4453128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판정별로 버튼 자체가 달라진다</a:t>
            </a:r>
            <a:endParaRPr lang="en-US" sz="1100" dirty="0"/>
          </a:p>
        </p:txBody>
      </p:sp>
      <p:sp>
        <p:nvSpPr>
          <p:cNvPr id="49" name="Shape 43"/>
          <p:cNvSpPr/>
          <p:nvPr/>
        </p:nvSpPr>
        <p:spPr>
          <a:xfrm>
            <a:off x="6903720" y="4818888"/>
            <a:ext cx="73152" cy="182880"/>
          </a:xfrm>
          <a:prstGeom prst="rect">
            <a:avLst/>
          </a:prstGeom>
          <a:solidFill>
            <a:srgbClr val="1FA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Text 44"/>
          <p:cNvSpPr/>
          <p:nvPr/>
        </p:nvSpPr>
        <p:spPr>
          <a:xfrm>
            <a:off x="7086600" y="4764024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완주 가능</a:t>
            </a:r>
            <a:endParaRPr lang="en-US" sz="900" dirty="0"/>
          </a:p>
        </p:txBody>
      </p:sp>
      <p:sp>
        <p:nvSpPr>
          <p:cNvPr id="51" name="Text 45"/>
          <p:cNvSpPr/>
          <p:nvPr/>
        </p:nvSpPr>
        <p:spPr>
          <a:xfrm>
            <a:off x="8138160" y="476402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“청소 시작 · 5구역”</a:t>
            </a:r>
            <a:endParaRPr lang="en-US" sz="900" dirty="0"/>
          </a:p>
        </p:txBody>
      </p:sp>
      <p:sp>
        <p:nvSpPr>
          <p:cNvPr id="52" name="Shape 46"/>
          <p:cNvSpPr/>
          <p:nvPr/>
        </p:nvSpPr>
        <p:spPr>
          <a:xfrm>
            <a:off x="6903720" y="5166360"/>
            <a:ext cx="73152" cy="182880"/>
          </a:xfrm>
          <a:prstGeom prst="rect">
            <a:avLst/>
          </a:prstGeom>
          <a:solidFill>
            <a:srgbClr val="DF8A1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3" name="Text 47"/>
          <p:cNvSpPr/>
          <p:nvPr/>
        </p:nvSpPr>
        <p:spPr>
          <a:xfrm>
            <a:off x="7086600" y="5111496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C60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빠듯함</a:t>
            </a:r>
            <a:endParaRPr lang="en-US" sz="900" dirty="0"/>
          </a:p>
        </p:txBody>
      </p:sp>
      <p:sp>
        <p:nvSpPr>
          <p:cNvPr id="54" name="Text 48"/>
          <p:cNvSpPr/>
          <p:nvPr/>
        </p:nvSpPr>
        <p:spPr>
          <a:xfrm>
            <a:off x="8138160" y="5111496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“저소음으로 청소 (여유 확보)”</a:t>
            </a:r>
            <a:endParaRPr lang="en-US" sz="900" dirty="0"/>
          </a:p>
        </p:txBody>
      </p:sp>
      <p:sp>
        <p:nvSpPr>
          <p:cNvPr id="55" name="Shape 49"/>
          <p:cNvSpPr/>
          <p:nvPr/>
        </p:nvSpPr>
        <p:spPr>
          <a:xfrm>
            <a:off x="6903720" y="5513832"/>
            <a:ext cx="73152" cy="182880"/>
          </a:xfrm>
          <a:prstGeom prst="rect">
            <a:avLst/>
          </a:prstGeom>
          <a:solidFill>
            <a:srgbClr val="D93B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6" name="Text 50"/>
          <p:cNvSpPr/>
          <p:nvPr/>
        </p:nvSpPr>
        <p:spPr>
          <a:xfrm>
            <a:off x="7086600" y="5458968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E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필요</a:t>
            </a:r>
            <a:endParaRPr lang="en-US" sz="900" dirty="0"/>
          </a:p>
        </p:txBody>
      </p:sp>
      <p:sp>
        <p:nvSpPr>
          <p:cNvPr id="57" name="Text 51"/>
          <p:cNvSpPr/>
          <p:nvPr/>
        </p:nvSpPr>
        <p:spPr>
          <a:xfrm>
            <a:off x="8138160" y="545896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“충전 후 시작 · 구역 줄여서 시작”</a:t>
            </a:r>
            <a:endParaRPr lang="en-US" sz="900" dirty="0"/>
          </a:p>
        </p:txBody>
      </p:sp>
      <p:sp>
        <p:nvSpPr>
          <p:cNvPr id="58" name="Shape 52"/>
          <p:cNvSpPr/>
          <p:nvPr/>
        </p:nvSpPr>
        <p:spPr>
          <a:xfrm>
            <a:off x="566928" y="5852160"/>
            <a:ext cx="11055096" cy="384048"/>
          </a:xfrm>
          <a:prstGeom prst="roundRect">
            <a:avLst>
              <a:gd name="adj" fmla="val 21429"/>
            </a:avLst>
          </a:prstGeom>
          <a:solidFill>
            <a:srgbClr val="EDF6F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9" name="Text 53"/>
          <p:cNvSpPr/>
          <p:nvPr/>
        </p:nvSpPr>
        <p:spPr>
          <a:xfrm>
            <a:off x="713232" y="58521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데모</a:t>
            </a:r>
            <a:endParaRPr lang="en-US" sz="900" dirty="0"/>
          </a:p>
        </p:txBody>
      </p:sp>
      <p:sp>
        <p:nvSpPr>
          <p:cNvPr id="60" name="Text 54"/>
          <p:cNvSpPr/>
          <p:nvPr/>
        </p:nvSpPr>
        <p:spPr>
          <a:xfrm>
            <a:off x="1188720" y="5852160"/>
            <a:ext cx="10277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온보딩부터 판정이 뒤집히는 것까지, 지금부터 앱에서 직접 보여드리겠습니다.</a:t>
            </a:r>
            <a:endParaRPr lang="en-US" sz="1050" dirty="0"/>
          </a:p>
        </p:txBody>
      </p:sp>
      <p:sp>
        <p:nvSpPr>
          <p:cNvPr id="61" name="Text 55"/>
          <p:cNvSpPr/>
          <p:nvPr/>
        </p:nvSpPr>
        <p:spPr>
          <a:xfrm>
            <a:off x="566928" y="6355080"/>
            <a:ext cx="11055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예측 계산식 검증 상세는 Appendix A3~A5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8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8C99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결론 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58521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spc="-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AX 활용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66928" y="129844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5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왼쪽은 AI가 한 일, 오른쪽은 그래서 사용자가 안 해도 되는 일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2057400"/>
            <a:ext cx="5349240" cy="566928"/>
          </a:xfrm>
          <a:prstGeom prst="roundRect">
            <a:avLst>
              <a:gd name="adj" fmla="val 12903"/>
            </a:avLst>
          </a:prstGeom>
          <a:solidFill>
            <a:srgbClr val="1E25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4944" y="205740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FD9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78992" y="205740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유형 추론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310128" y="2057400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93A0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답변 7개 → 세부 유형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35040" y="2340864"/>
            <a:ext cx="384048" cy="0"/>
          </a:xfrm>
          <a:prstGeom prst="line">
            <a:avLst/>
          </a:prstGeom>
          <a:noFill/>
          <a:ln w="17780">
            <a:solidFill>
              <a:srgbClr val="7FD9A8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583680" y="2057400"/>
            <a:ext cx="5029200" cy="566928"/>
          </a:xfrm>
          <a:prstGeom prst="roundRect">
            <a:avLst>
              <a:gd name="adj" fmla="val 12903"/>
            </a:avLst>
          </a:prstGeom>
          <a:solidFill>
            <a:srgbClr val="16321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66560" y="2057400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9BE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자기 유형을 몰라도 개인화가 성립한다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66928" y="2715768"/>
            <a:ext cx="5349240" cy="566928"/>
          </a:xfrm>
          <a:prstGeom prst="roundRect">
            <a:avLst>
              <a:gd name="adj" fmla="val 12903"/>
            </a:avLst>
          </a:prstGeom>
          <a:solidFill>
            <a:srgbClr val="1E25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4944" y="2715768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FD9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78992" y="2715768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소모율 예측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310128" y="2715768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93A0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잔량 · 평수 · 구역 → 여유 시간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6035040" y="2999232"/>
            <a:ext cx="384048" cy="0"/>
          </a:xfrm>
          <a:prstGeom prst="line">
            <a:avLst/>
          </a:prstGeom>
          <a:noFill/>
          <a:ln w="17780">
            <a:solidFill>
              <a:srgbClr val="7FD9A8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6583680" y="2715768"/>
            <a:ext cx="5029200" cy="566928"/>
          </a:xfrm>
          <a:prstGeom prst="roundRect">
            <a:avLst>
              <a:gd name="adj" fmla="val 12903"/>
            </a:avLst>
          </a:prstGeom>
          <a:solidFill>
            <a:srgbClr val="16321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66560" y="2715768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9BE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“완주 가능”이라는 말을 믿을 수 있게 됐다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66928" y="3374136"/>
            <a:ext cx="5349240" cy="566928"/>
          </a:xfrm>
          <a:prstGeom prst="roundRect">
            <a:avLst>
              <a:gd name="adj" fmla="val 12903"/>
            </a:avLst>
          </a:prstGeom>
          <a:solidFill>
            <a:srgbClr val="1E25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94944" y="3374136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FD9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78992" y="3374136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수명 반영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310128" y="3374136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93A0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SOH 78% → 가용 시간 −20%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035040" y="3657600"/>
            <a:ext cx="384048" cy="0"/>
          </a:xfrm>
          <a:prstGeom prst="line">
            <a:avLst/>
          </a:prstGeom>
          <a:noFill/>
          <a:ln w="17780">
            <a:solidFill>
              <a:srgbClr val="7FD9A8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6583680" y="3374136"/>
            <a:ext cx="5029200" cy="566928"/>
          </a:xfrm>
          <a:prstGeom prst="roundRect">
            <a:avLst>
              <a:gd name="adj" fmla="val 12903"/>
            </a:avLst>
          </a:prstGeom>
          <a:solidFill>
            <a:srgbClr val="16321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66560" y="3374136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9BE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배터리가 늙어도 안내가 계속 맞는다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66928" y="4032504"/>
            <a:ext cx="5349240" cy="566928"/>
          </a:xfrm>
          <a:prstGeom prst="roundRect">
            <a:avLst>
              <a:gd name="adj" fmla="val 12903"/>
            </a:avLst>
          </a:prstGeom>
          <a:solidFill>
            <a:srgbClr val="1E25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94944" y="4032504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FD9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078992" y="4032504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잔차 진단으로 식 수정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310128" y="4032504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93A0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한쪽 쏠림 → 누락 항 신설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6035040" y="4315968"/>
            <a:ext cx="384048" cy="0"/>
          </a:xfrm>
          <a:prstGeom prst="line">
            <a:avLst/>
          </a:prstGeom>
          <a:noFill/>
          <a:ln w="17780">
            <a:solidFill>
              <a:srgbClr val="7FD9A8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6583680" y="4032504"/>
            <a:ext cx="5029200" cy="566928"/>
          </a:xfrm>
          <a:prstGeom prst="roundRect">
            <a:avLst>
              <a:gd name="adj" fmla="val 12903"/>
            </a:avLst>
          </a:prstGeom>
          <a:solidFill>
            <a:srgbClr val="16321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766560" y="4032504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9BE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중간 방전이 사라졌다 (오차 3.56 → 0.98분)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66928" y="4690872"/>
            <a:ext cx="5349240" cy="566928"/>
          </a:xfrm>
          <a:prstGeom prst="roundRect">
            <a:avLst>
              <a:gd name="adj" fmla="val 12903"/>
            </a:avLst>
          </a:prstGeom>
          <a:solidFill>
            <a:srgbClr val="1E25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94944" y="4690872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FD9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⑤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1078992" y="4690872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상황 인지 · IoT 연동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310128" y="4690872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93A0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시간대 · 유형 → 음성/화면 전환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6035040" y="4974336"/>
            <a:ext cx="384048" cy="0"/>
          </a:xfrm>
          <a:prstGeom prst="line">
            <a:avLst/>
          </a:prstGeom>
          <a:noFill/>
          <a:ln w="17780">
            <a:solidFill>
              <a:srgbClr val="7FD9A8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6583680" y="4690872"/>
            <a:ext cx="5029200" cy="566928"/>
          </a:xfrm>
          <a:prstGeom prst="roundRect">
            <a:avLst>
              <a:gd name="adj" fmla="val 12903"/>
            </a:avLst>
          </a:prstGeom>
          <a:solidFill>
            <a:srgbClr val="16321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66560" y="4690872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9BE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알림이 민폐가 되지 않고, 손을 쓰지 않아도 된다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566928" y="5367528"/>
            <a:ext cx="11064240" cy="512064"/>
          </a:xfrm>
          <a:prstGeom prst="roundRect">
            <a:avLst>
              <a:gd name="adj" fmla="val 14286"/>
            </a:avLst>
          </a:prstGeom>
          <a:solidFill>
            <a:srgbClr val="2330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31520" y="5367528"/>
            <a:ext cx="10698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5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⑥  개발 과정 자체 — Claude Code로 프로토타입 구현과 검증 파이프라인을 구성해 1년치 사용 이력을 반복 재분석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566928" y="6044184"/>
            <a:ext cx="11064240" cy="512064"/>
          </a:xfrm>
          <a:prstGeom prst="roundRect">
            <a:avLst>
              <a:gd name="adj" fmla="val 14286"/>
            </a:avLst>
          </a:prstGeom>
          <a:solidFill>
            <a:srgbClr val="1E25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32688" y="6044184"/>
            <a:ext cx="2651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판단 비용 제거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493008" y="6300216"/>
            <a:ext cx="457200" cy="0"/>
          </a:xfrm>
          <a:prstGeom prst="line">
            <a:avLst/>
          </a:prstGeom>
          <a:noFill/>
          <a:ln w="17780">
            <a:solidFill>
              <a:srgbClr val="7FD9A8"/>
            </a:solidFill>
            <a:prstDash val="solid"/>
            <a:tailEnd type="triangle"/>
          </a:ln>
        </p:spPr>
      </p:sp>
      <p:sp>
        <p:nvSpPr>
          <p:cNvPr id="45" name="Text 43"/>
          <p:cNvSpPr/>
          <p:nvPr/>
        </p:nvSpPr>
        <p:spPr>
          <a:xfrm>
            <a:off x="4498848" y="6044184"/>
            <a:ext cx="2651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실패 예방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7059168" y="6300216"/>
            <a:ext cx="457200" cy="0"/>
          </a:xfrm>
          <a:prstGeom prst="line">
            <a:avLst/>
          </a:prstGeom>
          <a:noFill/>
          <a:ln w="17780">
            <a:solidFill>
              <a:srgbClr val="7FD9A8"/>
            </a:solidFill>
            <a:prstDash val="solid"/>
            <a:tailEnd type="triangle"/>
          </a:ln>
        </p:spPr>
      </p:sp>
      <p:sp>
        <p:nvSpPr>
          <p:cNvPr id="47" name="Text 45"/>
          <p:cNvSpPr/>
          <p:nvPr/>
        </p:nvSpPr>
        <p:spPr>
          <a:xfrm>
            <a:off x="8065008" y="6044184"/>
            <a:ext cx="2651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복구 경로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566928" y="6355080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7FD9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잔량은 기기의 언어, 코칭 문장은 사용자의 언어 — 번역기는 실제로 동작합니다.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결론 3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58521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spc="-60" kern="0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파급효과와 확장성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66928" y="129844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판정 · 문장 · 음성을 분리해 두어, 확장은 데이터와 계약만 있으면 된다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965960"/>
            <a:ext cx="5394960" cy="1298448"/>
          </a:xfrm>
          <a:prstGeom prst="roundRect">
            <a:avLst>
              <a:gd name="adj" fmla="val 7042"/>
            </a:avLst>
          </a:prstGeom>
          <a:solidFill>
            <a:srgbClr val="F4F6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8096" y="2148840"/>
            <a:ext cx="82296" cy="274320"/>
          </a:xfrm>
          <a:prstGeom prst="rect">
            <a:avLst/>
          </a:prstGeom>
          <a:solidFill>
            <a:srgbClr val="1FA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7552" y="2093976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실기기 재검증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87552" y="2423160"/>
            <a:ext cx="47548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 이력 → 재계산 → 결과 검증 파이프라인을 실측 로그에 그대로 적용 — 설계 잠정치를 실측값으로 대체한다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190488" y="1965960"/>
            <a:ext cx="5394960" cy="1298448"/>
          </a:xfrm>
          <a:prstGeom prst="roundRect">
            <a:avLst>
              <a:gd name="adj" fmla="val 7042"/>
            </a:avLst>
          </a:prstGeom>
          <a:solidFill>
            <a:srgbClr val="F4F6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91656" y="2148840"/>
            <a:ext cx="82296" cy="274320"/>
          </a:xfrm>
          <a:prstGeom prst="rect">
            <a:avLst/>
          </a:prstGeom>
          <a:solidFill>
            <a:srgbClr val="DF8A1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11112" y="2093976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 배터리 가전 이식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11112" y="2423160"/>
            <a:ext cx="47548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판정 로직이 화면과 분리된 순수 함수라, 로봇청소기 등 다른 배터리 가전에 동일 구조로 이식할 수 있다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6928" y="3410712"/>
            <a:ext cx="5394960" cy="1298448"/>
          </a:xfrm>
          <a:prstGeom prst="roundRect">
            <a:avLst>
              <a:gd name="adj" fmla="val 7042"/>
            </a:avLst>
          </a:prstGeom>
          <a:solidFill>
            <a:srgbClr val="F4F6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68096" y="3593592"/>
            <a:ext cx="82296" cy="274320"/>
          </a:xfrm>
          <a:prstGeom prst="rect">
            <a:avLst/>
          </a:prstGeom>
          <a:solidFill>
            <a:srgbClr val="14181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87552" y="353872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콘텐츠 확장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87552" y="3867912"/>
            <a:ext cx="47548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보이스팩·코칭 문장은 판정 로직 수정 없이 데이터 추가만으로 확장 — 이번 구현에서 15종까지 확인했다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190488" y="3410712"/>
            <a:ext cx="5394960" cy="1298448"/>
          </a:xfrm>
          <a:prstGeom prst="roundRect">
            <a:avLst>
              <a:gd name="adj" fmla="val 7042"/>
            </a:avLst>
          </a:prstGeom>
          <a:solidFill>
            <a:srgbClr val="F4F6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91656" y="3593592"/>
            <a:ext cx="82296" cy="274320"/>
          </a:xfrm>
          <a:prstGeom prst="rect">
            <a:avLst/>
          </a:prstGeom>
          <a:solidFill>
            <a:srgbClr val="D93B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11112" y="353872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배터리 케어 서비스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611112" y="3867912"/>
            <a:ext cx="47548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SOH 기반 교체 시점 안내를 소모품 구독·AS 예약으로 연결 — IoT 스피커·기기 LCD 연동은 이미 동작한다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5029200"/>
            <a:ext cx="11055096" cy="786384"/>
          </a:xfrm>
          <a:prstGeom prst="roundRect">
            <a:avLst>
              <a:gd name="adj" fmla="val 10465"/>
            </a:avLst>
          </a:prstGeom>
          <a:solidFill>
            <a:srgbClr val="EDF6F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86384" y="512064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팀 역할 분담 · 5인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786384" y="5413248"/>
            <a:ext cx="1212494" cy="237744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86384" y="5413248"/>
            <a:ext cx="121249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배터리 모델링·시뮬레이션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2126894" y="5413248"/>
            <a:ext cx="912571" cy="237744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126894" y="5413248"/>
            <a:ext cx="9125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분석·검증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3167482" y="5413248"/>
            <a:ext cx="837590" cy="237744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167482" y="5413248"/>
            <a:ext cx="8375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UX·화면 설계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4133088" y="5413248"/>
            <a:ext cx="837590" cy="237744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133088" y="5413248"/>
            <a:ext cx="8375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프로토타입 개발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098694" y="5413248"/>
            <a:ext cx="687629" cy="237744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098694" y="5413248"/>
            <a:ext cx="68762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문서화·발표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566928" y="6035040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잔량은 기기의 언어, 코칭 문장은 사용자의 언어 — 같은 번역기가 다음 기기에서도 동작합니다.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A1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58521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spc="-60" kern="0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세부 유형 10종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66928" y="129844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계열 5종(A~E) × 갈림 기준 1개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965960"/>
            <a:ext cx="11055096" cy="347472"/>
          </a:xfrm>
          <a:prstGeom prst="rect">
            <a:avLst/>
          </a:prstGeom>
          <a:solidFill>
            <a:srgbClr val="14181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965960"/>
            <a:ext cx="22492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코드 · 이름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90489" y="1965960"/>
            <a:ext cx="291254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리스크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185916" y="1965960"/>
            <a:ext cx="37969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수명 코칭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165751" y="1965960"/>
            <a:ext cx="136483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기준 소모율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2313432"/>
            <a:ext cx="11055096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2313432"/>
            <a:ext cx="22492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A-1 가끔·방치형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90489" y="2313432"/>
            <a:ext cx="291254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9E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저SOC 장기 보관 → 자가방전 열화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185916" y="2313432"/>
            <a:ext cx="37969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2주 미사용 시 55% 보관 충전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165751" y="2313432"/>
            <a:ext cx="136483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2.416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66928" y="2660904"/>
            <a:ext cx="11055096" cy="347472"/>
          </a:xfrm>
          <a:prstGeom prst="rect">
            <a:avLst/>
          </a:prstGeom>
          <a:solidFill>
            <a:srgbClr val="F4F6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8368" y="2660904"/>
            <a:ext cx="22492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A-2 가끔·상시거치형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090489" y="2660904"/>
            <a:ext cx="291254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9E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만충 상시 유지 → 고SOC 스트레스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185916" y="2660904"/>
            <a:ext cx="37969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 상한 충전 권장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165751" y="2660904"/>
            <a:ext cx="136483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2.416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66928" y="3008376"/>
            <a:ext cx="11055096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3008376"/>
            <a:ext cx="22492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B-1 짧고 잦은 터보상시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090489" y="3008376"/>
            <a:ext cx="291254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9E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고전류 방전 및 발열 누적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185916" y="3008376"/>
            <a:ext cx="37969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터보 8분 = 표준 15분, 모드 다이어트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165751" y="3008376"/>
            <a:ext cx="136483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4.289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66928" y="3355848"/>
            <a:ext cx="11055096" cy="347472"/>
          </a:xfrm>
          <a:prstGeom prst="rect">
            <a:avLst/>
          </a:prstGeom>
          <a:solidFill>
            <a:srgbClr val="F4F6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8368" y="3355848"/>
            <a:ext cx="22492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B-2 짧고 잦은 스팟터보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090489" y="3355848"/>
            <a:ext cx="291254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9E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특이 리스크 없음 (기준 그룹)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185916" y="3355848"/>
            <a:ext cx="37969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주간 배터리 효율 점수 리포트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0165751" y="3355848"/>
            <a:ext cx="136483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3.341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703320"/>
            <a:ext cx="11055096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8368" y="3703320"/>
            <a:ext cx="22492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C-1 장시간 완주형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3090489" y="3703320"/>
            <a:ext cx="291254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9E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1회 방전 심도(DoD) 과다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185916" y="3703320"/>
            <a:ext cx="37969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종료 예상 잔량 표시 · DoD 70% 상한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0165751" y="3703320"/>
            <a:ext cx="136483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1.881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66928" y="4050792"/>
            <a:ext cx="11055096" cy="347472"/>
          </a:xfrm>
          <a:prstGeom prst="rect">
            <a:avLst/>
          </a:prstGeom>
          <a:solidFill>
            <a:srgbClr val="F4F6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58368" y="4050792"/>
            <a:ext cx="22492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C-2 장시간 분할형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090489" y="4050792"/>
            <a:ext cx="291254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9E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등가 사이클 카운트 급증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185916" y="4050792"/>
            <a:ext cx="37969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분할 2회=0.9사이클, 통합 1회=0.7사이클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0165751" y="4050792"/>
            <a:ext cx="136483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1.881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66928" y="4398264"/>
            <a:ext cx="11055096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4398264"/>
            <a:ext cx="22492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D-1 고빈도 다중세션형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3090489" y="4398264"/>
            <a:ext cx="291254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9E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완주 불가 + 급속충전 발열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185916" y="4398264"/>
            <a:ext cx="37969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급속충전 직후 5분 냉각 대기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0165751" y="4398264"/>
            <a:ext cx="136483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4.052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66928" y="4745736"/>
            <a:ext cx="11055096" cy="347472"/>
          </a:xfrm>
          <a:prstGeom prst="rect">
            <a:avLst/>
          </a:prstGeom>
          <a:solidFill>
            <a:srgbClr val="F4F6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58368" y="4745736"/>
            <a:ext cx="22492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D-2 고빈도 팩교체형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3090489" y="4745736"/>
            <a:ext cx="291254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9E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팩별 사용 불균형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185916" y="4745736"/>
            <a:ext cx="37969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팩별 사이클 편차 표시 · 교체 시점 예고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10165751" y="4745736"/>
            <a:ext cx="136483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4.052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66928" y="5093208"/>
            <a:ext cx="11055096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8368" y="5093208"/>
            <a:ext cx="22492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E-1 주말 집중형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3090489" y="5093208"/>
            <a:ext cx="291254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9E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주중 방전 방치 + 여유 시간 부족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6185916" y="5093208"/>
            <a:ext cx="37969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예상 청소일 12시간 전 사전 충전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0165751" y="5093208"/>
            <a:ext cx="136483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2.523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66928" y="5440680"/>
            <a:ext cx="11055096" cy="347472"/>
          </a:xfrm>
          <a:prstGeom prst="rect">
            <a:avLst/>
          </a:prstGeom>
          <a:solidFill>
            <a:srgbClr val="F4F6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58368" y="5440680"/>
            <a:ext cx="22492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E-2 균등 분산형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3090489" y="5440680"/>
            <a:ext cx="291254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9E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특이 리스크 없음 (기준 그룹)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6185916" y="5440680"/>
            <a:ext cx="37969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경고 없이 주간 요약 · 예상 수명만 표시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10165751" y="5440680"/>
            <a:ext cx="136483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2.416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566928" y="5943600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기준 소모율(%/분)은 유형별 모드 사용 비율에서 나온다 — C-1 1.881 vs B-1 4.289가 그 차이다.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566928" y="6355080"/>
            <a:ext cx="11055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 본론 2 · 결론 3에서 연결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A2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58521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spc="-60" kern="0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유형 추론 규칙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66928" y="129844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자동 추론은 임의 분류가 아니라 명시적 규칙이다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965960"/>
            <a:ext cx="22860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5240">
            <a:solidFill>
              <a:srgbClr val="DDE3E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4944" y="1965960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집 평수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962656" y="2084832"/>
            <a:ext cx="73152" cy="182880"/>
          </a:xfrm>
          <a:prstGeom prst="rect">
            <a:avLst/>
          </a:prstGeom>
          <a:solidFill>
            <a:srgbClr val="1FA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127248" y="1965960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예측 파라미터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66928" y="2468880"/>
            <a:ext cx="22860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5240">
            <a:solidFill>
              <a:srgbClr val="DDE3E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94944" y="2468880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카펫 · 러그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962656" y="2587752"/>
            <a:ext cx="73152" cy="182880"/>
          </a:xfrm>
          <a:prstGeom prst="rect">
            <a:avLst/>
          </a:prstGeom>
          <a:solidFill>
            <a:srgbClr val="1FA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127248" y="2468880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예측 파라미터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66928" y="2971800"/>
            <a:ext cx="22860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5240">
            <a:solidFill>
              <a:srgbClr val="DDE3E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94944" y="2971800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반려동물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962656" y="3090672"/>
            <a:ext cx="73152" cy="182880"/>
          </a:xfrm>
          <a:prstGeom prst="rect">
            <a:avLst/>
          </a:prstGeom>
          <a:solidFill>
            <a:srgbClr val="1FA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127248" y="2971800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예측 파라미터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66928" y="3474720"/>
            <a:ext cx="22860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5240">
            <a:solidFill>
              <a:srgbClr val="DDE3E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4944" y="3474720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머리카락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962656" y="3593592"/>
            <a:ext cx="73152" cy="182880"/>
          </a:xfrm>
          <a:prstGeom prst="rect">
            <a:avLst/>
          </a:prstGeom>
          <a:solidFill>
            <a:srgbClr val="1FA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127248" y="3474720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예측 파라미터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66928" y="3977640"/>
            <a:ext cx="22860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5240">
            <a:solidFill>
              <a:srgbClr val="DDE3E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94944" y="3977640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청소 시간대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962656" y="4096512"/>
            <a:ext cx="73152" cy="182880"/>
          </a:xfrm>
          <a:prstGeom prst="rect">
            <a:avLst/>
          </a:prstGeom>
          <a:solidFill>
            <a:srgbClr val="DF8A1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127248" y="3977640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60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무음 정책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66928" y="4480560"/>
            <a:ext cx="22860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5240">
            <a:solidFill>
              <a:srgbClr val="DDE3E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94944" y="4480560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 번에 몰아서?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962656" y="4599432"/>
            <a:ext cx="73152" cy="182880"/>
          </a:xfrm>
          <a:prstGeom prst="rect">
            <a:avLst/>
          </a:prstGeom>
          <a:solidFill>
            <a:srgbClr val="D93B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127248" y="4480560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E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세부 유형 분기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566928" y="4983480"/>
            <a:ext cx="22860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5240">
            <a:solidFill>
              <a:srgbClr val="DDE3E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94944" y="4983480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거치대 상시?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962656" y="5102352"/>
            <a:ext cx="73152" cy="182880"/>
          </a:xfrm>
          <a:prstGeom prst="rect">
            <a:avLst/>
          </a:prstGeom>
          <a:solidFill>
            <a:srgbClr val="D93B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127248" y="4983480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E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세부 유형 분기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566928" y="557784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분기용 2개 · 예측 파라미터 4개 · 무음 정책 1개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846320" y="3337560"/>
            <a:ext cx="1463040" cy="731520"/>
          </a:xfrm>
          <a:prstGeom prst="roundRect">
            <a:avLst>
              <a:gd name="adj" fmla="val 8750"/>
            </a:avLst>
          </a:prstGeom>
          <a:solidFill>
            <a:srgbClr val="14181D"/>
          </a:solidFill>
          <a:ln w="15875">
            <a:solidFill>
              <a:srgbClr val="14181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92040" y="333756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8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규칙 기반</a:t>
            </a:r>
            <a:endParaRPr lang="en-US" sz="1000" dirty="0"/>
          </a:p>
          <a:p>
            <a:pPr algn="ctr" indent="0" marL="0">
              <a:lnSpc>
                <a:spcPts val="128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추론기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526280" y="3703320"/>
            <a:ext cx="274320" cy="0"/>
          </a:xfrm>
          <a:prstGeom prst="line">
            <a:avLst/>
          </a:prstGeom>
          <a:noFill/>
          <a:ln w="17780">
            <a:solidFill>
              <a:srgbClr val="B9C2C9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6355080" y="3703320"/>
            <a:ext cx="274320" cy="0"/>
          </a:xfrm>
          <a:prstGeom prst="line">
            <a:avLst/>
          </a:prstGeom>
          <a:noFill/>
          <a:ln w="17780">
            <a:solidFill>
              <a:srgbClr val="B9C2C9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6812280" y="2286000"/>
            <a:ext cx="4800600" cy="548640"/>
          </a:xfrm>
          <a:prstGeom prst="roundRect">
            <a:avLst>
              <a:gd name="adj" fmla="val 13333"/>
            </a:avLst>
          </a:prstGeom>
          <a:solidFill>
            <a:srgbClr val="F4F6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949440" y="22860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A계열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772400" y="228600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거치대 상시 거치 → A-2 / 쓸 때만 → A-1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812280" y="2944368"/>
            <a:ext cx="4800600" cy="548640"/>
          </a:xfrm>
          <a:prstGeom prst="roundRect">
            <a:avLst>
              <a:gd name="adj" fmla="val 13333"/>
            </a:avLst>
          </a:prstGeom>
          <a:solidFill>
            <a:srgbClr val="F4F6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949440" y="2944368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B계열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772400" y="294436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몰아서 → B-1 / 나눠서 → B-2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812280" y="3602736"/>
            <a:ext cx="4800600" cy="548640"/>
          </a:xfrm>
          <a:prstGeom prst="roundRect">
            <a:avLst>
              <a:gd name="adj" fmla="val 13333"/>
            </a:avLst>
          </a:prstGeom>
          <a:solidFill>
            <a:srgbClr val="F4F6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949440" y="3602736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C계열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7772400" y="3602736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몰아서 → C-1 / 나눠서 → C-2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6812280" y="4261104"/>
            <a:ext cx="4800600" cy="548640"/>
          </a:xfrm>
          <a:prstGeom prst="roundRect">
            <a:avLst>
              <a:gd name="adj" fmla="val 13333"/>
            </a:avLst>
          </a:prstGeom>
          <a:solidFill>
            <a:srgbClr val="FCED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949440" y="4261104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E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D계열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7772400" y="4261104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E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몰아서 → D-2 / 나눠서 → D-1   ※ 방향이 반대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6812280" y="4919472"/>
            <a:ext cx="4800600" cy="548640"/>
          </a:xfrm>
          <a:prstGeom prst="roundRect">
            <a:avLst>
              <a:gd name="adj" fmla="val 13333"/>
            </a:avLst>
          </a:prstGeom>
          <a:solidFill>
            <a:srgbClr val="F4F6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949440" y="4919472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E계열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7772400" y="4919472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몰아서 → E-1 / 나눠서 → E-2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566928" y="5852160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판정 근거는 문장으로 되돌려준다 — “거치대에 항상 꽂아두는 습관 → 만충이 오래 유지되어 고SOC 스트레스가 쌓입니다”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566928" y="6355080"/>
            <a:ext cx="11055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 본론 2에서 연결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A3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58521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spc="-60" kern="0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계산식 구조 변경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66928" y="129844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항을 신설하고, 항이 붙는 위치를 옮겼다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96596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F6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2075688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정의서 원문식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6384" y="2368296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(잔량 − 예비 잔량) × 온도·SOH 보정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÷ 모드별 소모율 (설계 잠정 1.7 / 2.5 / 5.0)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943600" y="2560320"/>
            <a:ext cx="256032" cy="0"/>
          </a:xfrm>
          <a:prstGeom prst="line">
            <a:avLst/>
          </a:prstGeom>
          <a:noFill/>
          <a:ln w="17780">
            <a:solidFill>
              <a:srgbClr val="14181D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6236208" y="1965960"/>
            <a:ext cx="5376672" cy="1188720"/>
          </a:xfrm>
          <a:prstGeom prst="roundRect">
            <a:avLst>
              <a:gd name="adj" fmla="val 7692"/>
            </a:avLst>
          </a:prstGeom>
          <a:solidFill>
            <a:srgbClr val="EDF6F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55664" y="2075688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3차 최종 보정식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55664" y="2368296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00" b="1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(잔량 − 예비 잔량 − 기동 전력)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b="1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÷ [ 기준 소모율 × 부하 × 온도 × (1 + 전압강하 항) ]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66928" y="3291840"/>
            <a:ext cx="11055096" cy="603504"/>
          </a:xfrm>
          <a:prstGeom prst="roundRect">
            <a:avLst>
              <a:gd name="adj" fmla="val 12121"/>
            </a:avLst>
          </a:prstGeom>
          <a:solidFill>
            <a:srgbClr val="F4F6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1520" y="3493008"/>
            <a:ext cx="82296" cy="201168"/>
          </a:xfrm>
          <a:prstGeom prst="rect">
            <a:avLst/>
          </a:prstGeom>
          <a:solidFill>
            <a:srgbClr val="D93B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0976" y="3291840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없던 항 신설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035808" y="3291840"/>
            <a:ext cx="4846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기동 전력 c₀ = 2.14% · 저잔량 전압강하 β = 0.237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7973568" y="3291840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E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식에 없는 항 47.5% 해소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66928" y="3950208"/>
            <a:ext cx="11055096" cy="603504"/>
          </a:xfrm>
          <a:prstGeom prst="roundRect">
            <a:avLst>
              <a:gd name="adj" fmla="val 12121"/>
            </a:avLst>
          </a:prstGeom>
          <a:solidFill>
            <a:srgbClr val="F4F6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" y="4151376"/>
            <a:ext cx="82296" cy="201168"/>
          </a:xfrm>
          <a:prstGeom prst="rect">
            <a:avLst/>
          </a:prstGeom>
          <a:solidFill>
            <a:srgbClr val="DF8A1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50976" y="395020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값 재추정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035808" y="3950208"/>
            <a:ext cx="4846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모드별 소모율 = 1.56 / 2.63 / 5.00 (%/분)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973568" y="3950208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C60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값이 틀린 항 33.9% 해소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66928" y="4608576"/>
            <a:ext cx="11055096" cy="603504"/>
          </a:xfrm>
          <a:prstGeom prst="roundRect">
            <a:avLst>
              <a:gd name="adj" fmla="val 12121"/>
            </a:avLst>
          </a:prstGeom>
          <a:solidFill>
            <a:srgbClr val="F4F6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31520" y="4809744"/>
            <a:ext cx="82296" cy="201168"/>
          </a:xfrm>
          <a:prstGeom prst="rect">
            <a:avLst/>
          </a:prstGeom>
          <a:solidFill>
            <a:srgbClr val="1FA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50976" y="4608576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위치 이동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035808" y="4608576"/>
            <a:ext cx="4846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온도 계수를 가용 용량 → 소모 속도로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973568" y="4608576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적용 위치가 틀린 항 18.5% 해소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66928" y="5303520"/>
            <a:ext cx="2651760" cy="621792"/>
          </a:xfrm>
          <a:prstGeom prst="roundRect">
            <a:avLst>
              <a:gd name="adj" fmla="val 10294"/>
            </a:avLst>
          </a:prstGeom>
          <a:solidFill>
            <a:srgbClr val="FFFFFF"/>
          </a:solidFill>
          <a:ln w="12700">
            <a:solidFill>
              <a:srgbClr val="DDE3E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3232" y="535838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예비 잔량 5%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13232" y="55961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아래는 실사용 시간에서 제외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3401568" y="5303520"/>
            <a:ext cx="2651760" cy="621792"/>
          </a:xfrm>
          <a:prstGeom prst="roundRect">
            <a:avLst>
              <a:gd name="adj" fmla="val 10294"/>
            </a:avLst>
          </a:prstGeom>
          <a:solidFill>
            <a:srgbClr val="FFFFFF"/>
          </a:solidFill>
          <a:ln w="12700">
            <a:solidFill>
              <a:srgbClr val="DDE3E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47872" y="535838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온도 보정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3547872" y="55961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18℃ 미만 · 30℃ 초과에만 작동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236208" y="5303520"/>
            <a:ext cx="2651760" cy="621792"/>
          </a:xfrm>
          <a:prstGeom prst="roundRect">
            <a:avLst>
              <a:gd name="adj" fmla="val 10294"/>
            </a:avLst>
          </a:prstGeom>
          <a:solidFill>
            <a:srgbClr val="FFFFFF"/>
          </a:solidFill>
          <a:ln w="12700">
            <a:solidFill>
              <a:srgbClr val="DDE3E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382512" y="535838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부하 계수 ≤ 1.40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382512" y="55961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카펫 0.15 · 반려동물 0.10 · 장모 0.08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9070848" y="5303520"/>
            <a:ext cx="2651760" cy="621792"/>
          </a:xfrm>
          <a:prstGeom prst="roundRect">
            <a:avLst>
              <a:gd name="adj" fmla="val 10294"/>
            </a:avLst>
          </a:prstGeom>
          <a:solidFill>
            <a:srgbClr val="FFFFFF"/>
          </a:solidFill>
          <a:ln w="12700">
            <a:solidFill>
              <a:srgbClr val="DDE3E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217152" y="535838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SOH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9217152" y="55961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실효 소모율의 분모로 적용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566928" y="5998464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슬라이드용으로 다시 쓴 식이 아니라, 코칭 화면의 세 지표를 만들어내는 앱의 그 함수다.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66928" y="6355080"/>
            <a:ext cx="11055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 결론 1에서 연결 · 3식 비교는 A4 · 오차 분해는 A5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A4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58521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spc="-60" kern="0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계산식 3종 비교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66928" y="129844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 데이터 13,392건 · 동일 조건 비교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965960"/>
            <a:ext cx="6858000" cy="420624"/>
          </a:xfrm>
          <a:prstGeom prst="rect">
            <a:avLst/>
          </a:prstGeom>
          <a:solidFill>
            <a:srgbClr val="14181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965960"/>
            <a:ext cx="2148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88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방식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990088" y="1965960"/>
            <a:ext cx="7086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188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평균 오차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3881628" y="1965960"/>
            <a:ext cx="777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188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편향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841748" y="1965960"/>
            <a:ext cx="11201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188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완주 판정 정확도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144768" y="1965960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188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RMSE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830568" y="1965960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188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R²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66928" y="2386584"/>
            <a:ext cx="6858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2386584"/>
            <a:ext cx="2148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88"/>
              </a:lnSpc>
              <a:buNone/>
            </a:pPr>
            <a:r>
              <a:rPr lang="en-US" sz="950" b="1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정의서 원문식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990088" y="2386584"/>
            <a:ext cx="7086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3.56분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881628" y="2386584"/>
            <a:ext cx="777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+3.56분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841748" y="2386584"/>
            <a:ext cx="11201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90.0%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144768" y="2386584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4.14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830568" y="2386584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0.8645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66928" y="2807208"/>
            <a:ext cx="6858000" cy="420624"/>
          </a:xfrm>
          <a:prstGeom prst="rect">
            <a:avLst/>
          </a:prstGeom>
          <a:solidFill>
            <a:srgbClr val="EDF6F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8368" y="2807208"/>
            <a:ext cx="2148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88"/>
              </a:lnSpc>
              <a:buNone/>
            </a:pPr>
            <a:r>
              <a:rPr lang="en-US" sz="950" b="1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3차 최종 보정식 (채택)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990088" y="2807208"/>
            <a:ext cx="7086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0.98분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881628" y="2807208"/>
            <a:ext cx="777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−0.12분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841748" y="2807208"/>
            <a:ext cx="11201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96.0%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144768" y="2807208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1.92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830568" y="2807208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0.9710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66928" y="3227832"/>
            <a:ext cx="6858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8368" y="3227832"/>
            <a:ext cx="2148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88"/>
              </a:lnSpc>
              <a:buNone/>
            </a:pPr>
            <a:r>
              <a:rPr lang="en-US" sz="950" b="1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간단 회귀 (변수 5개)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2990088" y="3227832"/>
            <a:ext cx="7086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1.71분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3881628" y="3227832"/>
            <a:ext cx="777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−0.08분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841748" y="3227832"/>
            <a:ext cx="11201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93.7%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144768" y="3227832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2.35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830568" y="3227832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0.9562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39776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편향 부호가 핵심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66928" y="4270248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원문식만 +3.56분으로 전량 과대추정이라 “완주 가능”이라 해놓고 꺼지는 방향으로만 틀린다. 나머지 둘은 사실상 무편향이다.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66928" y="47548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물리식이 회귀보다 정확했고, 각 항의 의미를 설명할 수 있어 해석 가능성에서도 앞선다.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7680960" y="19659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앱의 판정 경계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7680960" y="2331720"/>
            <a:ext cx="3931920" cy="384048"/>
          </a:xfrm>
          <a:prstGeom prst="roundRect">
            <a:avLst>
              <a:gd name="adj" fmla="val 14286"/>
            </a:avLst>
          </a:prstGeom>
          <a:solidFill>
            <a:srgbClr val="F4F6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818120" y="2432304"/>
            <a:ext cx="73152" cy="182880"/>
          </a:xfrm>
          <a:prstGeom prst="rect">
            <a:avLst/>
          </a:prstGeom>
          <a:solidFill>
            <a:srgbClr val="1FA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028432" y="23317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여유 5분 이상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9692640" y="233172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완주 가능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7680960" y="2788920"/>
            <a:ext cx="3931920" cy="384048"/>
          </a:xfrm>
          <a:prstGeom prst="roundRect">
            <a:avLst>
              <a:gd name="adj" fmla="val 14286"/>
            </a:avLst>
          </a:prstGeom>
          <a:solidFill>
            <a:srgbClr val="F4F6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818120" y="2889504"/>
            <a:ext cx="73152" cy="182880"/>
          </a:xfrm>
          <a:prstGeom prst="rect">
            <a:avLst/>
          </a:prstGeom>
          <a:solidFill>
            <a:srgbClr val="DF8A1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028432" y="27889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여유 0 ~ 5분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9692640" y="278892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C60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빠듯함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7680960" y="3246120"/>
            <a:ext cx="3931920" cy="384048"/>
          </a:xfrm>
          <a:prstGeom prst="roundRect">
            <a:avLst>
              <a:gd name="adj" fmla="val 14286"/>
            </a:avLst>
          </a:prstGeom>
          <a:solidFill>
            <a:srgbClr val="F4F6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818120" y="3346704"/>
            <a:ext cx="73152" cy="182880"/>
          </a:xfrm>
          <a:prstGeom prst="rect">
            <a:avLst/>
          </a:prstGeom>
          <a:solidFill>
            <a:srgbClr val="D93B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028432" y="32461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여유 음수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9692640" y="324612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E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필요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7680960" y="3703320"/>
            <a:ext cx="3931920" cy="384048"/>
          </a:xfrm>
          <a:prstGeom prst="roundRect">
            <a:avLst>
              <a:gd name="adj" fmla="val 14286"/>
            </a:avLst>
          </a:prstGeom>
          <a:solidFill>
            <a:srgbClr val="F4F6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818120" y="3803904"/>
            <a:ext cx="73152" cy="182880"/>
          </a:xfrm>
          <a:prstGeom prst="rect">
            <a:avLst/>
          </a:prstGeom>
          <a:solidFill>
            <a:srgbClr val="DF8A1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028432" y="37033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만충으로도 음수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9692640" y="370332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C60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분할 청소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7680960" y="425196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임계 잔량은 고정값이 아니라, 목표 여유 시간을 만족하는 잔량을 조건별로 역산해 얻는다.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566928" y="5532120"/>
            <a:ext cx="11055096" cy="658368"/>
          </a:xfrm>
          <a:prstGeom prst="roundRect">
            <a:avLst>
              <a:gd name="adj" fmla="val 11111"/>
            </a:avLst>
          </a:prstGeom>
          <a:solidFill>
            <a:srgbClr val="F4F6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49808" y="5532120"/>
            <a:ext cx="106893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집계 기준 각주 — 대시보드에는 세션 단위 전체 집계(3.71 → 0.32분, 89% → 99%)도 함께 실려 있습니다. 발표 수치는 모델별 결과 집계 기준(3.56 → 0.98분, 90.0% → 96.0%)으로 통일했습니다.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566928" y="6355080"/>
            <a:ext cx="11055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 본론 3 · 결론 1에서 연결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A5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58521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spc="-60" kern="0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오차 요인 분해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66928" y="129844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진단이 처방을 지목했다 — 튜닝으로는 최대 33.9%까지만</a:t>
            </a:r>
            <a:endParaRPr lang="en-US" sz="1250" dirty="0"/>
          </a:p>
        </p:txBody>
      </p:sp>
      <p:pic>
        <p:nvPicPr>
          <p:cNvPr id="5" name="Image 0" descr="/Users/brothrone/Desktop/a_repo/figs/fig4_waterf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965960"/>
            <a:ext cx="5394960" cy="30632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0" y="1947672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진단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9098280" y="1947672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처방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6400800" y="219456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9E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47.5%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6400800" y="2596896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식에 없는 항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8595360" y="2468880"/>
            <a:ext cx="365760" cy="0"/>
          </a:xfrm>
          <a:prstGeom prst="line">
            <a:avLst/>
          </a:prstGeom>
          <a:noFill/>
          <a:ln w="17780">
            <a:solidFill>
              <a:srgbClr val="D93B41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9098280" y="2176272"/>
            <a:ext cx="2514600" cy="603504"/>
          </a:xfrm>
          <a:prstGeom prst="roundRect">
            <a:avLst>
              <a:gd name="adj" fmla="val 10606"/>
            </a:avLst>
          </a:prstGeom>
          <a:solidFill>
            <a:srgbClr val="F4F6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235440" y="2176272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기동 전력 · 전압강하 항 신설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6400800" y="31546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9C60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33.9%</a:t>
            </a:r>
            <a:endParaRPr lang="en-US" sz="2100" dirty="0"/>
          </a:p>
        </p:txBody>
      </p:sp>
      <p:sp>
        <p:nvSpPr>
          <p:cNvPr id="14" name="Text 11"/>
          <p:cNvSpPr/>
          <p:nvPr/>
        </p:nvSpPr>
        <p:spPr>
          <a:xfrm>
            <a:off x="6400800" y="3557016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값이 틀린 항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8595360" y="3429000"/>
            <a:ext cx="365760" cy="0"/>
          </a:xfrm>
          <a:prstGeom prst="line">
            <a:avLst/>
          </a:prstGeom>
          <a:noFill/>
          <a:ln w="17780">
            <a:solidFill>
              <a:srgbClr val="DF8A16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9098280" y="3136392"/>
            <a:ext cx="2514600" cy="603504"/>
          </a:xfrm>
          <a:prstGeom prst="roundRect">
            <a:avLst>
              <a:gd name="adj" fmla="val 10606"/>
            </a:avLst>
          </a:prstGeom>
          <a:solidFill>
            <a:srgbClr val="F4F6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235440" y="3136392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모드별 소모율 재추정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6400800" y="411480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18.5%</a:t>
            </a:r>
            <a:endParaRPr lang="en-US" sz="2100" dirty="0"/>
          </a:p>
        </p:txBody>
      </p:sp>
      <p:sp>
        <p:nvSpPr>
          <p:cNvPr id="19" name="Text 16"/>
          <p:cNvSpPr/>
          <p:nvPr/>
        </p:nvSpPr>
        <p:spPr>
          <a:xfrm>
            <a:off x="6400800" y="4517136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적용 위치가 틀린 항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8595360" y="4389120"/>
            <a:ext cx="365760" cy="0"/>
          </a:xfrm>
          <a:prstGeom prst="line">
            <a:avLst/>
          </a:prstGeom>
          <a:noFill/>
          <a:ln w="17780">
            <a:solidFill>
              <a:srgbClr val="1FA971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9098280" y="4096512"/>
            <a:ext cx="2514600" cy="603504"/>
          </a:xfrm>
          <a:prstGeom prst="roundRect">
            <a:avLst>
              <a:gd name="adj" fmla="val 10606"/>
            </a:avLst>
          </a:prstGeom>
          <a:solidFill>
            <a:srgbClr val="F4F6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235440" y="4096512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온도 계수를 소모 속도로 이동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566928" y="5623560"/>
            <a:ext cx="11055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잔차를 조건별(모드 · 잔량 구간 · 온도 · 세션 길이)로 층화해 각 층에 남는 계통적 패턴을 추적했다. 계수만 다시 맞췄다면 오차의 절반도 잡지 못했다.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566928" y="6355080"/>
            <a:ext cx="11055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 결론 1에서 연결 · 처방의 실제 형태는 A3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A6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58521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spc="-60" kern="0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모델별 검증 결과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66928" y="129844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10종 전부 개선 · 가장 어려운 케이스도 함께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4023360" y="187452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원문식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600200" y="187452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보정식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7635240" y="187452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개선율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66928" y="2066544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A-1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024482" y="2185416"/>
            <a:ext cx="2341047" cy="0"/>
          </a:xfrm>
          <a:prstGeom prst="line">
            <a:avLst/>
          </a:prstGeom>
          <a:noFill/>
          <a:ln w="31750">
            <a:solidFill>
              <a:srgbClr val="C3CCD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01520" y="2121408"/>
            <a:ext cx="128016" cy="128016"/>
          </a:xfrm>
          <a:prstGeom prst="ellipse">
            <a:avLst/>
          </a:prstGeom>
          <a:solidFill>
            <a:srgbClr val="9AA6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960474" y="2121408"/>
            <a:ext cx="128016" cy="128016"/>
          </a:xfrm>
          <a:prstGeom prst="ellipse">
            <a:avLst/>
          </a:prstGeom>
          <a:solidFill>
            <a:srgbClr val="1FA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75256" y="206654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3.21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635240" y="206654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−78%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66928" y="2432304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A-2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155058" y="2551176"/>
            <a:ext cx="2574219" cy="0"/>
          </a:xfrm>
          <a:prstGeom prst="line">
            <a:avLst/>
          </a:prstGeom>
          <a:noFill/>
          <a:ln w="31750">
            <a:solidFill>
              <a:srgbClr val="C3CCD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5269" y="2487168"/>
            <a:ext cx="128016" cy="128016"/>
          </a:xfrm>
          <a:prstGeom prst="ellipse">
            <a:avLst/>
          </a:prstGeom>
          <a:solidFill>
            <a:srgbClr val="9AA6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091050" y="2487168"/>
            <a:ext cx="128016" cy="128016"/>
          </a:xfrm>
          <a:prstGeom prst="ellipse">
            <a:avLst/>
          </a:prstGeom>
          <a:solidFill>
            <a:srgbClr val="1FA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39005" y="243230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3.60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7635240" y="243230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−77%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2798064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B-1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136404" y="2916936"/>
            <a:ext cx="1473647" cy="0"/>
          </a:xfrm>
          <a:prstGeom prst="line">
            <a:avLst/>
          </a:prstGeom>
          <a:noFill/>
          <a:ln w="31750">
            <a:solidFill>
              <a:srgbClr val="C3CCD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46043" y="2852928"/>
            <a:ext cx="128016" cy="128016"/>
          </a:xfrm>
          <a:prstGeom prst="ellipse">
            <a:avLst/>
          </a:prstGeom>
          <a:solidFill>
            <a:srgbClr val="9AA6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72396" y="2852928"/>
            <a:ext cx="128016" cy="128016"/>
          </a:xfrm>
          <a:prstGeom prst="ellipse">
            <a:avLst/>
          </a:prstGeom>
          <a:solidFill>
            <a:srgbClr val="1FA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719779" y="27980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2.40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7635240" y="279806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−66%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566928" y="3163824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B-2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071116" y="3282696"/>
            <a:ext cx="2154509" cy="0"/>
          </a:xfrm>
          <a:prstGeom prst="line">
            <a:avLst/>
          </a:prstGeom>
          <a:noFill/>
          <a:ln w="31750">
            <a:solidFill>
              <a:srgbClr val="C3CCD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161617" y="3218688"/>
            <a:ext cx="128016" cy="128016"/>
          </a:xfrm>
          <a:prstGeom prst="ellipse">
            <a:avLst/>
          </a:prstGeom>
          <a:solidFill>
            <a:srgbClr val="9AA6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007108" y="3218688"/>
            <a:ext cx="128016" cy="128016"/>
          </a:xfrm>
          <a:prstGeom prst="ellipse">
            <a:avLst/>
          </a:prstGeom>
          <a:solidFill>
            <a:srgbClr val="1FA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35353" y="316382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3.06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7635240" y="316382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−75%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566928" y="3529584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C-1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2696017" y="3648456"/>
            <a:ext cx="3572195" cy="0"/>
          </a:xfrm>
          <a:prstGeom prst="line">
            <a:avLst/>
          </a:prstGeom>
          <a:noFill/>
          <a:ln w="31750">
            <a:solidFill>
              <a:srgbClr val="C3CCD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204204" y="3584448"/>
            <a:ext cx="128016" cy="128016"/>
          </a:xfrm>
          <a:prstGeom prst="ellipse">
            <a:avLst/>
          </a:prstGeom>
          <a:solidFill>
            <a:srgbClr val="9AA6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632009" y="3584448"/>
            <a:ext cx="128016" cy="128016"/>
          </a:xfrm>
          <a:prstGeom prst="ellipse">
            <a:avLst/>
          </a:prstGeom>
          <a:solidFill>
            <a:srgbClr val="1FA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77940" y="352958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5.25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7635240" y="352958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−73%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566928" y="3895344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C-2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668036" y="4014216"/>
            <a:ext cx="3861328" cy="0"/>
          </a:xfrm>
          <a:prstGeom prst="line">
            <a:avLst/>
          </a:prstGeom>
          <a:noFill/>
          <a:ln w="31750">
            <a:solidFill>
              <a:srgbClr val="C3CCD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65357" y="3950208"/>
            <a:ext cx="128016" cy="128016"/>
          </a:xfrm>
          <a:prstGeom prst="ellipse">
            <a:avLst/>
          </a:prstGeom>
          <a:solidFill>
            <a:srgbClr val="9AA6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604028" y="3950208"/>
            <a:ext cx="128016" cy="128016"/>
          </a:xfrm>
          <a:prstGeom prst="ellipse">
            <a:avLst/>
          </a:prstGeom>
          <a:solidFill>
            <a:srgbClr val="1FA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639093" y="389534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5.53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7635240" y="389534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−75%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566928" y="4261104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D-1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117750" y="4379976"/>
            <a:ext cx="1259129" cy="0"/>
          </a:xfrm>
          <a:prstGeom prst="line">
            <a:avLst/>
          </a:prstGeom>
          <a:noFill/>
          <a:ln w="31750">
            <a:solidFill>
              <a:srgbClr val="C3CCD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312871" y="4315968"/>
            <a:ext cx="128016" cy="128016"/>
          </a:xfrm>
          <a:prstGeom prst="ellipse">
            <a:avLst/>
          </a:prstGeom>
          <a:solidFill>
            <a:srgbClr val="9AA6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053742" y="4315968"/>
            <a:ext cx="128016" cy="128016"/>
          </a:xfrm>
          <a:prstGeom prst="ellipse">
            <a:avLst/>
          </a:prstGeom>
          <a:solidFill>
            <a:srgbClr val="1FA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486607" y="426110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2.15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7635240" y="426110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−63%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566928" y="4626864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D-2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2211019" y="4745736"/>
            <a:ext cx="1399032" cy="0"/>
          </a:xfrm>
          <a:prstGeom prst="line">
            <a:avLst/>
          </a:prstGeom>
          <a:noFill/>
          <a:ln w="31750">
            <a:solidFill>
              <a:srgbClr val="C3CCD3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546043" y="4681728"/>
            <a:ext cx="128016" cy="128016"/>
          </a:xfrm>
          <a:prstGeom prst="ellipse">
            <a:avLst/>
          </a:prstGeom>
          <a:solidFill>
            <a:srgbClr val="9AA6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2147011" y="4681728"/>
            <a:ext cx="128016" cy="128016"/>
          </a:xfrm>
          <a:prstGeom prst="ellipse">
            <a:avLst/>
          </a:prstGeom>
          <a:solidFill>
            <a:srgbClr val="1FA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719779" y="46268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2.40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7635240" y="462686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−62%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566928" y="4992624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E-1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2015155" y="5111496"/>
            <a:ext cx="2257105" cy="0"/>
          </a:xfrm>
          <a:prstGeom prst="line">
            <a:avLst/>
          </a:prstGeom>
          <a:noFill/>
          <a:ln w="31750">
            <a:solidFill>
              <a:srgbClr val="C3CCD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208252" y="5047488"/>
            <a:ext cx="128016" cy="128016"/>
          </a:xfrm>
          <a:prstGeom prst="ellipse">
            <a:avLst/>
          </a:prstGeom>
          <a:solidFill>
            <a:srgbClr val="9AA6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951147" y="5047488"/>
            <a:ext cx="128016" cy="128016"/>
          </a:xfrm>
          <a:prstGeom prst="ellipse">
            <a:avLst/>
          </a:prstGeom>
          <a:solidFill>
            <a:srgbClr val="1FA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381988" y="499262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3.11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7635240" y="499262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−78%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566928" y="5358384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E-2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2192365" y="5477256"/>
            <a:ext cx="2891333" cy="0"/>
          </a:xfrm>
          <a:prstGeom prst="line">
            <a:avLst/>
          </a:prstGeom>
          <a:noFill/>
          <a:ln w="31750">
            <a:solidFill>
              <a:srgbClr val="C3CCD3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5019690" y="5413248"/>
            <a:ext cx="128016" cy="128016"/>
          </a:xfrm>
          <a:prstGeom prst="ellipse">
            <a:avLst/>
          </a:prstGeom>
          <a:solidFill>
            <a:srgbClr val="9AA6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2128357" y="5413248"/>
            <a:ext cx="128016" cy="128016"/>
          </a:xfrm>
          <a:prstGeom prst="ellipse">
            <a:avLst/>
          </a:prstGeom>
          <a:solidFill>
            <a:srgbClr val="1FA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93426" y="535838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3.98</a:t>
            </a:r>
            <a:endParaRPr lang="en-US" sz="800" dirty="0"/>
          </a:p>
        </p:txBody>
      </p:sp>
      <p:sp>
        <p:nvSpPr>
          <p:cNvPr id="67" name="Text 65"/>
          <p:cNvSpPr/>
          <p:nvPr/>
        </p:nvSpPr>
        <p:spPr>
          <a:xfrm>
            <a:off x="7635240" y="535838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−78%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8778240" y="1965960"/>
            <a:ext cx="2834640" cy="1371600"/>
          </a:xfrm>
          <a:prstGeom prst="roundRect">
            <a:avLst>
              <a:gd name="adj" fmla="val 5333"/>
            </a:avLst>
          </a:prstGeom>
          <a:solidFill>
            <a:srgbClr val="FCED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8942832" y="2075688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E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가장 어려운 케이스 — C-1</a:t>
            </a:r>
            <a:endParaRPr lang="en-US" sz="950" dirty="0"/>
          </a:p>
        </p:txBody>
      </p:sp>
      <p:sp>
        <p:nvSpPr>
          <p:cNvPr id="70" name="Text 68"/>
          <p:cNvSpPr/>
          <p:nvPr/>
        </p:nvSpPr>
        <p:spPr>
          <a:xfrm>
            <a:off x="8942832" y="2331720"/>
            <a:ext cx="25603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완주 판정 정확도는 보정 후에도 76%로 10종 중 유일하게 낮다. 다만 개선폭은 55% → 76%로 가장 크다. 세션이 길수록 작은 예측 오차가 완주 여부를 뒤집기 쉽기 때문이다.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8778240" y="3474720"/>
            <a:ext cx="2834640" cy="777240"/>
          </a:xfrm>
          <a:prstGeom prst="roundRect">
            <a:avLst>
              <a:gd name="adj" fmla="val 9412"/>
            </a:avLst>
          </a:prstGeom>
          <a:solidFill>
            <a:srgbClr val="EDF6F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8942832" y="3575304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최대 개선 — E-1</a:t>
            </a:r>
            <a:endParaRPr lang="en-US" sz="950" dirty="0"/>
          </a:p>
        </p:txBody>
      </p:sp>
      <p:sp>
        <p:nvSpPr>
          <p:cNvPr id="73" name="Text 71"/>
          <p:cNvSpPr/>
          <p:nvPr/>
        </p:nvSpPr>
        <p:spPr>
          <a:xfrm>
            <a:off x="8942832" y="3831336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완주 판정 정확도 50% → 97%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566928" y="5486400"/>
            <a:ext cx="3566160" cy="777240"/>
          </a:xfrm>
          <a:prstGeom prst="roundRect">
            <a:avLst>
              <a:gd name="adj" fmla="val 9412"/>
            </a:avLst>
          </a:prstGeom>
          <a:solidFill>
            <a:srgbClr val="F4F6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731520" y="555955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설치형 웹앱 · 오프라인</a:t>
            </a:r>
            <a:endParaRPr lang="en-US" sz="900" dirty="0"/>
          </a:p>
        </p:txBody>
      </p:sp>
      <p:sp>
        <p:nvSpPr>
          <p:cNvPr id="76" name="Text 74"/>
          <p:cNvSpPr/>
          <p:nvPr/>
        </p:nvSpPr>
        <p:spPr>
          <a:xfrm>
            <a:off x="731520" y="5779008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HTML 기반 PWA. 서비스워커가 음성 클립까지 전 자산을 캐시해 네트워크가 끊겨도 전 구간 동작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4361688" y="5486400"/>
            <a:ext cx="3566160" cy="777240"/>
          </a:xfrm>
          <a:prstGeom prst="roundRect">
            <a:avLst>
              <a:gd name="adj" fmla="val 9412"/>
            </a:avLst>
          </a:prstGeom>
          <a:solidFill>
            <a:srgbClr val="F4F6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526280" y="555955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데모 제어</a:t>
            </a:r>
            <a:endParaRPr lang="en-US" sz="900" dirty="0"/>
          </a:p>
        </p:txBody>
      </p:sp>
      <p:sp>
        <p:nvSpPr>
          <p:cNvPr id="79" name="Text 77"/>
          <p:cNvSpPr/>
          <p:nvPr/>
        </p:nvSpPr>
        <p:spPr>
          <a:xfrm>
            <a:off x="4526280" y="5779008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“완주 경계” · “빠듯 경계” 버튼은 목표 여유 시간을 만족하는 잔량을 역산해 즉시 점프시킨다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8156448" y="5486400"/>
            <a:ext cx="3566160" cy="777240"/>
          </a:xfrm>
          <a:prstGeom prst="roundRect">
            <a:avLst>
              <a:gd name="adj" fmla="val 9412"/>
            </a:avLst>
          </a:prstGeom>
          <a:solidFill>
            <a:srgbClr val="F4F6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8321040" y="555955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 재현</a:t>
            </a:r>
            <a:endParaRPr lang="en-US" sz="900" dirty="0"/>
          </a:p>
        </p:txBody>
      </p:sp>
      <p:sp>
        <p:nvSpPr>
          <p:cNvPr id="82" name="Text 80"/>
          <p:cNvSpPr/>
          <p:nvPr/>
        </p:nvSpPr>
        <p:spPr>
          <a:xfrm>
            <a:off x="8321040" y="5779008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 이력 → 재계산 스크립트 → 결과 데이터로 수치 전량 재현 가능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A7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585216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spc="-60" kern="0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 · SOH 상세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66928" y="129844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 대비 — 용어 정의와 수명 판정 기준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965960"/>
            <a:ext cx="11055096" cy="457200"/>
          </a:xfrm>
          <a:prstGeom prst="rect">
            <a:avLst/>
          </a:prstGeom>
          <a:solidFill>
            <a:srgbClr val="14181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965960"/>
            <a:ext cx="1585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88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구분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427183" y="1965960"/>
            <a:ext cx="4460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88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 (State of Charge)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7070324" y="1965960"/>
            <a:ext cx="4460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88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SOH (State of Health)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66928" y="2423160"/>
            <a:ext cx="11055096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" y="2423160"/>
            <a:ext cx="1585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88"/>
              </a:lnSpc>
              <a:buNone/>
            </a:pPr>
            <a:r>
              <a:rPr lang="en-US" sz="95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뜻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427183" y="2423160"/>
            <a:ext cx="4460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지금 남은 충전량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070324" y="2423160"/>
            <a:ext cx="4460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9C60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신품 대비 남은 성능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66928" y="2880360"/>
            <a:ext cx="11055096" cy="457200"/>
          </a:xfrm>
          <a:prstGeom prst="rect">
            <a:avLst/>
          </a:prstGeom>
          <a:solidFill>
            <a:srgbClr val="F4F6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2880360"/>
            <a:ext cx="1585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88"/>
              </a:lnSpc>
              <a:buNone/>
            </a:pPr>
            <a:r>
              <a:rPr lang="en-US" sz="95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범위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427183" y="2880360"/>
            <a:ext cx="4460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~ 100% · 쓰면 줄고 충전하면 회복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7070324" y="2880360"/>
            <a:ext cx="4460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9C60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100%에서 시작해 단조 감소 · 회복 안 됨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66928" y="3337560"/>
            <a:ext cx="11055096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" y="3337560"/>
            <a:ext cx="1585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88"/>
              </a:lnSpc>
              <a:buNone/>
            </a:pPr>
            <a:r>
              <a:rPr lang="en-US" sz="95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변하는 속도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427183" y="3337560"/>
            <a:ext cx="4460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 번의 청소로도 크게 변함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7070324" y="3337560"/>
            <a:ext cx="4460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9C60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수백 사이클에 걸쳐 서서히 변함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66928" y="3794760"/>
            <a:ext cx="11055096" cy="457200"/>
          </a:xfrm>
          <a:prstGeom prst="rect">
            <a:avLst/>
          </a:prstGeom>
          <a:solidFill>
            <a:srgbClr val="F4F6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8368" y="3794760"/>
            <a:ext cx="1585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88"/>
              </a:lnSpc>
              <a:buNone/>
            </a:pPr>
            <a:r>
              <a:rPr lang="en-US" sz="95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답하는 질문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2427183" y="3794760"/>
            <a:ext cx="4460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오늘 이 청소를 끝낼 수 있는가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070324" y="3794760"/>
            <a:ext cx="4460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9C60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앞으로 얼마나 더 쓸 수 있는가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66928" y="4251960"/>
            <a:ext cx="11055096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8368" y="4251960"/>
            <a:ext cx="1585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88"/>
              </a:lnSpc>
              <a:buNone/>
            </a:pPr>
            <a:r>
              <a:rPr lang="en-US" sz="950" b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앱에서의 쓰임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2427183" y="4251960"/>
            <a:ext cx="4460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1679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상태 판정(완주/빠듯/충전)의 입력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070324" y="4251960"/>
            <a:ext cx="4460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9C60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예측식의 소모 속도 보정 + 교체 시점 안내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66928" y="4846320"/>
            <a:ext cx="5394960" cy="1371600"/>
          </a:xfrm>
          <a:prstGeom prst="roundRect">
            <a:avLst>
              <a:gd name="adj" fmla="val 6667"/>
            </a:avLst>
          </a:prstGeom>
          <a:solidFill>
            <a:srgbClr val="FCED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86384" y="4965192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E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흔한 오해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786384" y="5310886"/>
            <a:ext cx="64008" cy="29261"/>
          </a:xfrm>
          <a:prstGeom prst="rect">
            <a:avLst/>
          </a:prstGeom>
          <a:solidFill>
            <a:srgbClr val="7983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50976" y="5257800"/>
            <a:ext cx="4818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49"/>
              </a:lnSpc>
              <a:buNone/>
            </a:pPr>
            <a:r>
              <a:rPr lang="en-US" sz="95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“SOH 50%면 SOC도 50%” — 아니다. 완전히 다른 축이다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786384" y="5786374"/>
            <a:ext cx="64008" cy="29261"/>
          </a:xfrm>
          <a:prstGeom prst="rect">
            <a:avLst/>
          </a:prstGeom>
          <a:solidFill>
            <a:srgbClr val="7983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50976" y="5733288"/>
            <a:ext cx="4818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49"/>
              </a:lnSpc>
              <a:buNone/>
            </a:pPr>
            <a:r>
              <a:rPr lang="en-US" sz="95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SOH 50%인 배터리도 만충하면 SOC는 100%가 된다. 다만 그 100%가 담는 에너지가 절반이다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236208" y="4846320"/>
            <a:ext cx="5376672" cy="1371600"/>
          </a:xfrm>
          <a:prstGeom prst="roundRect">
            <a:avLst>
              <a:gd name="adj" fmla="val 6667"/>
            </a:avLst>
          </a:prstGeom>
          <a:solidFill>
            <a:srgbClr val="F4F6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55664" y="4965192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수명 판정 기준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455664" y="5310886"/>
            <a:ext cx="64008" cy="29261"/>
          </a:xfrm>
          <a:prstGeom prst="rect">
            <a:avLst/>
          </a:prstGeom>
          <a:solidFill>
            <a:srgbClr val="7983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620256" y="5257800"/>
            <a:ext cx="4818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49"/>
              </a:lnSpc>
              <a:buNone/>
            </a:pPr>
            <a:r>
              <a:rPr lang="en-US" sz="95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업계 통상 기준 — SOH 80% 미만이면 수명이 다한 것으로 본다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455664" y="5694934"/>
            <a:ext cx="64008" cy="29261"/>
          </a:xfrm>
          <a:prstGeom prst="rect">
            <a:avLst/>
          </a:prstGeom>
          <a:solidFill>
            <a:srgbClr val="7983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620256" y="5641848"/>
            <a:ext cx="4818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49"/>
              </a:lnSpc>
              <a:buNone/>
            </a:pPr>
            <a:r>
              <a:rPr lang="en-US" sz="95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앱은 SOH 80% 미만에서 코칭 화면에 “교체 검토” 안내를 띄운다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455664" y="6078982"/>
            <a:ext cx="64008" cy="29261"/>
          </a:xfrm>
          <a:prstGeom prst="rect">
            <a:avLst/>
          </a:prstGeom>
          <a:solidFill>
            <a:srgbClr val="7983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620256" y="6025896"/>
            <a:ext cx="4818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49"/>
              </a:lnSpc>
              <a:buNone/>
            </a:pPr>
            <a:r>
              <a:rPr lang="en-US" sz="950" dirty="0">
                <a:solidFill>
                  <a:srgbClr val="2B3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적용 방식 — 실효 소모율 ÷ SOH. SOH 80%면 소모 속도 1.25배, 가용 시간 20% 감소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566928" y="5897880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1418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SOH를 넣기 전에는 배터리가 늙을수록 안내가 낙관적으로 틀렸다. 넣고 나서는 수명이 닳아도 안내가 계속 맞는다.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566928" y="6355080"/>
            <a:ext cx="11055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98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 서론 2 · 본론 4에서 연결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배터리 라이프 코칭 UX</dc:title>
  <dc:subject>PptxGenJS Presentation</dc:subject>
  <dc:creator>파라써블</dc:creator>
  <cp:lastModifiedBy>파라써블</cp:lastModifiedBy>
  <cp:revision>1</cp:revision>
  <dcterms:created xsi:type="dcterms:W3CDTF">2026-09-02T10:51:52Z</dcterms:created>
  <dcterms:modified xsi:type="dcterms:W3CDTF">2026-09-02T10:51:52Z</dcterms:modified>
</cp:coreProperties>
</file>