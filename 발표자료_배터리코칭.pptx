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안녕하십니까, 파라써블입니다. 저희는 배터리 잔량을 사용자의 행동으로 번역하는 코칭 UI를 만들었습니다. 오른쪽은 지금 실제로 동작하는 앱 화면입니다.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왼쪽은 잔량 82%인데 완주 가능, 오른쪽은 81%인데 빠듯함입니다. 평수와 소모 조건이 다르기 때문입니다. 잔량이 같아도 조건이 다르면 답이 갈리므로, 숫자만으로는 지금 시작해도 되는지 알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배터리를 두 숫자로 읽습니다. SOC는 지금 잔량, SOH는 수명입니다. 둘은 독립된 축이고, SOH 80% 미만이면 통상 수명이 다한 것으로 봅니다. 이 둘을 함께 읽어 행동 판정, 유형별 개인화, 수명 코칭 세 가지를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온보딩, 코칭, 실행 세 단계이고 사용자가 손대는 곳은 실선 네 군데뿐입니다. 분할 청소와 도중 방전 같은 실패 상황까지 경로로 설계했습니다. 다음 장부터는 이 지도의 지점을 확대한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유형을 고르게 하는 대신 “카펫을 쓰시나요” 같은 생활 언어 질문 일곱 개로 묻고, 유형은 앱이 추론해 근거와 함께 보여줍니다. 답한 설정은 프리셋으로 저장해 다음부터는 한 번에 불러옵니다.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잔량 임계값 대신 여유 시간으로 판정합니다. 5분 이상이면 완주 가능, 0에서 5분은 빠듯함, 음수면 충전 필요입니다. 판정이 셋인 이유는 사용자가 고를 행동이 셋뿐이기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두 화면 모두 잔량 82%지만 SOH 78%인 오른쪽은 37분이 아니라 29분만 쓸 수 있습니다. SOH를 소모 속도에 반영해 배터리가 늙어도 안내가 계속 맞고, 80% 미만이면 교체 시점을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판정은 앱 한 곳에서 하고, 표현은 세 곳으로 나눕니다. 같은 판정이 기기 LCD에 그대로 뜨고, IoT 스피커가 유형별 문장을 읽어줍니다. 심야나 낮잠 시간대에는 소리를 끄고 화면 안내만 남깁니다. 네트워크가 없어도 전 구간 동작합니다.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 → 데모] 잔량만 보여주던 화면이 행동까지 답하게 됐습니다. 수명과 기기 연동이 이번에 새로 생긴 줄입니다. 지금부터 실제 앱에서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AI는 판단이 필요한 다섯 자리에 들어갔습니다. 유형 추론, 여유 시간 예측, 수명 반영, 잔차 진단으로 식 수정, 상황 인지와 IoT 연동. 사용자 입장에서는 전부 “안 해도 되는 일”이 됐습니다. 개발 과정 자체도 Claude Code로 1년치 사용 이력을 반복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판정, 문장, 음성이 분리돼 있어 확장이 쉽습니다. 실기기 로그가 오면 같은 파이프라인으로 재검증하고, 같은 구조를 다른 배터리 가전에 이식할 수 있으며, SOH 기반 교체 안내는 배터리 케어 서비스로 이어집니다.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오면 여기로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D계열만 매핑이 반대다.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앱에 도는 식과 슬라이드의 식이 같다고 분명히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집계 단위가 달라 두 세트가 있다고 먼저 밝힌다.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검증과 진단을 가르는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C-1 76%를 먼저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“SOH 50이면 SOC도 50이냐”는 오해를 여기서 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D11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85632" y="512064"/>
            <a:ext cx="3080757" cy="5833872"/>
          </a:xfrm>
          <a:prstGeom prst="roundRect">
            <a:avLst>
              <a:gd name="adj" fmla="val 1781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08" y="548640"/>
            <a:ext cx="3007605" cy="5760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691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파라써블 × 부산대학교 · 미래 AX 생활가전 리빙 솔루션+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224028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</a:t>
            </a:r>
            <a:endParaRPr lang="en-US" sz="38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문장은 사용자의 언어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66928" y="40233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스틱형 청소기의 배터리 잔량을 “지금 할 행동”으로 번역하는 AX 프로토타입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45262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8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보여드리는 화면은 전부 실제로 도는 앱 화면입니다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기기가 주는 것은 % 하나, 사용자가 묻는 것은 “지금 시작해도 되나”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929384"/>
            <a:ext cx="1696304" cy="3182112"/>
          </a:xfrm>
          <a:prstGeom prst="roundRect">
            <a:avLst>
              <a:gd name="adj" fmla="val 3234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6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1623152" cy="3108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" y="5166360"/>
            <a:ext cx="235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 · 24평 · 82%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75488" y="5376672"/>
            <a:ext cx="235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+15분 → 완주 가능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395728" y="1929384"/>
            <a:ext cx="1588770" cy="3182112"/>
          </a:xfrm>
          <a:prstGeom prst="roundRect">
            <a:avLst>
              <a:gd name="adj" fmla="val 3453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0" name="Image 1" descr="/Users/brothrone/Desktop/a_repo/shots/09_coach_tight_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304" y="1965960"/>
            <a:ext cx="1515618" cy="31089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66544" y="5166360"/>
            <a:ext cx="22471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 · 28평 · 81%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066544" y="5376672"/>
            <a:ext cx="22471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+2분 → 빠듯함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572000" y="207873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736592" y="2011680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던지는 질문 — 지금 시작하면 끝까지 되나 / 어디까지 가능한가 / 중간에 꺼지면 어떡하나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0" y="2700528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736592" y="2633472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기기가 주는 답은 잔량 %와 LED 칸 수가 전부. 그다음 판단은 전부 사용자 몫이다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0" y="3322320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36592" y="3255264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1%p 차이인데 판정이 갈렸다 — 평수 24 vs 28, 소모 조건이 다르기 때문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0" y="394411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736592" y="3877056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여부를 정하는 건 잔량이 아니라 여유 시간이다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0" y="456590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36592" y="4498848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배터리는 쓸수록 늙는다. 같은 82%라도 새 배터리와 2년 쓴 배터리는 다르다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0" y="5074920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736592" y="5074920"/>
            <a:ext cx="6720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화면은 조건이 다릅니다. 잔량이 같아도 조건이 다르면 답이 갈리므로, 잔량만으로는 원리적으로 판단할 수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서론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SOC와 SOH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둘은 독립적이다. 함께 읽어야 “지금 할 수 있는 일”이 나온다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122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04672" y="2587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Charge · 충전 상태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88036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얼마나 남았나. 쓰면 줄고 충전하면 다시 100%가 된다.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557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답하는 질문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이 청소를 끝낼 수 있는가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07408" y="196596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1122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45152" y="2587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Health · 건강 상태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45152" y="288036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배터리가 얼마나 늙었나. 신품이 100%이고, 한 번 줄면 돌아오지 않는다.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45152" y="3557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답하는 질문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45152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이 배터리를 얼마나 더 쓸 수 있는가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47888" y="196596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112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오해하는 것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485632" y="247624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50224" y="2423160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50%라고 해서 SOC가 50%인 건 아니다. 서로 다른 축이다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85632" y="304317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50224" y="2990088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80% 미만이면 통상 수명이 다한 것으로 본다 — 교체를 검토할 시점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485632" y="361010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50224" y="3557016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SOH가 낮으면 만충을 해도 쓸 수 있는 시간 자체가 짧아진다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만든 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029200"/>
            <a:ext cx="82296" cy="45720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판정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8638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 / 빠듯함 / 충전 필요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07408" y="5029200"/>
            <a:ext cx="82296" cy="45720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개인화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2686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습관에서 자동 추론 · 프리셋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47888" y="5029200"/>
            <a:ext cx="82296" cy="45720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6734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코칭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6734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기반 사용·보관 가이드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SOC · SOH 상세와 수명 판정 기준은 Appendix A7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설계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실선 = 사용자가 손대는 지점 · 점선 = 앱이 자동으로 처리하는 지점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1105509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3042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온보딩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3310128"/>
            <a:ext cx="11055096" cy="1463040"/>
          </a:xfrm>
          <a:prstGeom prst="rect">
            <a:avLst/>
          </a:prstGeom>
          <a:solidFill>
            <a:srgbClr val="FAFB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55701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5509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1389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280160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실행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프리셋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39696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12848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58568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A~E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72384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45536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91256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005072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78224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7983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123944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37760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10912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6632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요약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저장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70448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보이스팩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80160" y="3429000"/>
            <a:ext cx="85953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5880" y="34290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홈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39696" y="370332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12848" y="3429000"/>
            <a:ext cx="85953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58568" y="34290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구역 선택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072384" y="370332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45536" y="3374136"/>
            <a:ext cx="1097280" cy="658368"/>
          </a:xfrm>
          <a:prstGeom prst="roundRect">
            <a:avLst>
              <a:gd name="adj" fmla="val 9722"/>
            </a:avLst>
          </a:prstGeom>
          <a:solidFill>
            <a:srgbClr val="14181D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91256" y="337413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판정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42816" y="3703320"/>
            <a:ext cx="60350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8795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1FA9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3367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바로 시작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242816" y="3703320"/>
            <a:ext cx="202082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6364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0527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F8A1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5099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저소음 전환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242816" y="3703320"/>
            <a:ext cx="343814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8096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02259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93B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6831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93B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93B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충전·구역 축소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242816" y="3703320"/>
            <a:ext cx="485546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43991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F8A1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8563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1차→충전→2차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0424160" y="3941064"/>
            <a:ext cx="11887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79838C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10469880" y="39410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무음 시간대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840480" y="4983480"/>
            <a:ext cx="1280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86200" y="4983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진행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120640" y="5257800"/>
            <a:ext cx="9144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230368" y="498348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76088" y="4983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· 거치대 복귀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03136" y="498348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F8A1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48856" y="4983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완료 → 충전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174736" y="5257800"/>
            <a:ext cx="9144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8284464" y="498348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F8A1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30184" y="4983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2차 청소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0424160" y="4983480"/>
            <a:ext cx="11887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93B41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10469880" y="4983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도중 방전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66928" y="56692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실패도 경로 안에 넣었다 — 만충으로도 안 되는 범위는 시작 전에 분할 청소로 분류하고, 도중에 방전돼도 복귀 후 이어서 진행한다.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동선 전체는 잠시 후 데모에서 처음부터 끝까지 이어서 보여드리겠습니다.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2 · 개선 ①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질문형 온보딩과 프리셋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개인화에 필요한 정보는 반드시 있어야 하는데, 사용자는 자기 유형을 모른다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유형은 계산에 반드시 필요하다. 그런데 사용자는 자기가 어떤 유형인지 알 방법이 없다.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언어 질문 7개로 묻고, 답변에서 유형을 규칙 기반으로 추론한다. 한 번 답한 설정은 이름을 붙여 프리셋으로 저장한다.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설정 화면을 한 번도 열지 않는다. 다음부터는 프리셋 한 번 눌러 끝난다.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724144" y="1929384"/>
            <a:ext cx="1674973" cy="1810512"/>
          </a:xfrm>
          <a:prstGeom prst="roundRect">
            <a:avLst>
              <a:gd name="adj" fmla="val 3276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7" name="Image 0" descr="/Users/brothrone/Desktop/a_repo/shots/02_q_ar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965960"/>
            <a:ext cx="1601821" cy="173736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15784" y="1929384"/>
            <a:ext cx="887540" cy="1810512"/>
          </a:xfrm>
          <a:prstGeom prst="roundRect">
            <a:avLst>
              <a:gd name="adj" fmla="val 6182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9" name="Image 1" descr="/Users/brothrone/Desktop/a_repo/shots/07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965960"/>
            <a:ext cx="814388" cy="17373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07424" y="1929384"/>
            <a:ext cx="875961" cy="1810512"/>
          </a:xfrm>
          <a:prstGeom prst="roundRect">
            <a:avLst>
              <a:gd name="adj" fmla="val 6263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1" name="Image 2" descr="/Users/brothrone/Desktop/a_repo/shots/13_prese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65960"/>
            <a:ext cx="802809" cy="17373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623560" y="37764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78040" y="3776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 · 근거 제시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8869680" y="3776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프리셋 저장 · 불러오기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5760720" y="420624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분기에만 쓰이지 않는다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760720" y="456666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925312" y="4507992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평수 → 필요 청소 시간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760720" y="495071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925312" y="4892040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· 반려동물 · 머리카락 → 흡입 부하 계수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760720" y="533476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5925312" y="5276088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시간대 → 무음 정책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760720" y="5718810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925312" y="5660136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· 보관 습관 → 세부 유형 분기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질문에 답하면 유형이 자동으로 잡히고, 저장한 프리셋을 바로 불러오는 것까지 데모에서 보여드리겠습니다.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유형 정의와 분기 규칙은 Appendix A1 · A2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3 · 개선 ②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시간 기반 판정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출력은 숫자가 아니라 행동이어야 한다 — 그래서 색이 셋이다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고정 임계값은 틀린다. 같은 70%라도 평수·바닥 조건·모드가 다르면 완주 여부가 뒤집힌다.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잔량이 아니라 여유 시간으로 판정한다. 임계 잔량은 고정값이 아니라 목표 여유 시간에서 역산해 얻는다.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가능”이라는 말을 믿을 수 있게 됐다. 머릿속 계산 세 가지를 앱이 대신한다.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60720" y="196596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시간 축으로 바꾸면 깨끗이 갈린다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313432"/>
            <a:ext cx="2011680" cy="54864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313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0" y="2313432"/>
            <a:ext cx="1188720" cy="54864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231343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961120" y="2313432"/>
            <a:ext cx="2651760" cy="54864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23134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589520" y="28986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0분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0" y="28986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+5분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24144" y="3191256"/>
            <a:ext cx="908598" cy="1673352"/>
          </a:xfrm>
          <a:prstGeom prst="roundRect">
            <a:avLst>
              <a:gd name="adj" fmla="val 6038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6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227832"/>
            <a:ext cx="835446" cy="16002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394960" y="4919472"/>
            <a:ext cx="1566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+15분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690104" y="3191256"/>
            <a:ext cx="853250" cy="1673352"/>
          </a:xfrm>
          <a:prstGeom prst="roundRect">
            <a:avLst>
              <a:gd name="adj" fmla="val 6430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9" name="Image 1" descr="/Users/brothrone/Desktop/a_repo/shots/09_coach_tight_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227832"/>
            <a:ext cx="780098" cy="16002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360920" y="4919472"/>
            <a:ext cx="15116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+2분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656064" y="3191256"/>
            <a:ext cx="851304" cy="1673352"/>
          </a:xfrm>
          <a:prstGeom prst="roundRect">
            <a:avLst>
              <a:gd name="adj" fmla="val 6445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2" name="Image 2" descr="/Users/brothrone/Desktop/a_repo/shots/10_coach_charge_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27832"/>
            <a:ext cx="778152" cy="160020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326880" y="4919472"/>
            <a:ext cx="1509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−9분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5760720" y="5276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지표(예상 사용 시간 · 여유 시간 · 청소 후 잔량)는 구역을 하나 누를 때마다 전부 다시 계산된다.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잔량인데 구역을 바꾸면 판정이 실시간으로 뒤집히는 것은 데모에서 보여드리겠습니다.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임계값 역산 근거는 Appendix A4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4 · 개선 ③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수명(SOH) 반영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수명을 넣자 “오늘 할 수 있는 일”이 배터리 나이까지 반영하게 됐다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안내는 SOC만 본다. 배터리가 늙어도 같은 82%면 같은 시간을 쓸 수 있다고 말한다 — 그래서 중간에 꺼진다.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SOH를 실효 소모율에 반영했다. SOH가 낮을수록 소모 속도가 커져 가용 시간이 짧게 산출된다.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수명이 닳아도 안내가 계속 맞는다. 교체 시점(SOH 80% 미만)도 미리 알려준다.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724144" y="1929384"/>
            <a:ext cx="1314386" cy="2450592"/>
          </a:xfrm>
          <a:prstGeom prst="roundRect">
            <a:avLst>
              <a:gd name="adj" fmla="val 4174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7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965960"/>
            <a:ext cx="1241234" cy="23774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394960" y="4434840"/>
            <a:ext cx="19727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100% · 신품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394960" y="4645152"/>
            <a:ext cx="19727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37분 · 여유 +15분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598664" y="1929384"/>
            <a:ext cx="1219260" cy="2450592"/>
          </a:xfrm>
          <a:prstGeom prst="roundRect">
            <a:avLst>
              <a:gd name="adj" fmla="val 4500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1" name="Image 1" descr="/Users/brothrone/Desktop/a_repo/shots/14_soh_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65960"/>
            <a:ext cx="1146108" cy="23774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269480" y="4434840"/>
            <a:ext cx="1877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· 교체 권장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269480" y="4645152"/>
            <a:ext cx="1877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29분 · 여유 +7분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760720" y="49834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SOC 82% · 같은 24평 · 같은 5구역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9692640" y="196596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857232" y="2130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 가동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9857232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47분</a:t>
            </a:r>
            <a:endParaRPr lang="en-US" sz="2400" dirty="0"/>
          </a:p>
        </p:txBody>
      </p:sp>
      <p:sp>
        <p:nvSpPr>
          <p:cNvPr id="28" name="Text 24"/>
          <p:cNvSpPr/>
          <p:nvPr/>
        </p:nvSpPr>
        <p:spPr>
          <a:xfrm>
            <a:off x="9857232" y="28803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100%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10652760" y="3172968"/>
            <a:ext cx="0" cy="256032"/>
          </a:xfrm>
          <a:prstGeom prst="line">
            <a:avLst/>
          </a:prstGeom>
          <a:noFill/>
          <a:ln w="17780">
            <a:solidFill>
              <a:srgbClr val="9C6008"/>
            </a:solidFill>
            <a:prstDash val="solid"/>
            <a:tailEnd type="triangle"/>
          </a:ln>
        </p:spPr>
      </p:sp>
      <p:sp>
        <p:nvSpPr>
          <p:cNvPr id="30" name="Text 26"/>
          <p:cNvSpPr/>
          <p:nvPr/>
        </p:nvSpPr>
        <p:spPr>
          <a:xfrm>
            <a:off x="9857232" y="3538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37분</a:t>
            </a:r>
            <a:endParaRPr lang="en-US" sz="2400" dirty="0"/>
          </a:p>
        </p:txBody>
      </p:sp>
      <p:sp>
        <p:nvSpPr>
          <p:cNvPr id="31" name="Text 27"/>
          <p:cNvSpPr/>
          <p:nvPr/>
        </p:nvSpPr>
        <p:spPr>
          <a:xfrm>
            <a:off x="9857232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· −20%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데모에서 SOH를 내리면 판정이 어떻게 바뀌는지 바로 보여드리겠습니다.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SOH 적용 방식과 수명 판정 기준은 Appendix A7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5 · 개선 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· IoT 연동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한 곳에서, 표현은 세 곳에서 — 화면을 보지 않아도 안내가 닿는다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929384"/>
            <a:ext cx="5483352" cy="3319272"/>
          </a:xfrm>
          <a:prstGeom prst="roundRect">
            <a:avLst>
              <a:gd name="adj" fmla="val 1653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6" name="Image 0" descr="/Users/brothrone/Desktop/a_repo/shots/20_desktop_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541020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321808"/>
            <a:ext cx="541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 설정하면 기기 LCD와 IoT 스피커가 함께 반응한다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315200" y="1965960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79792" y="2167128"/>
            <a:ext cx="82296" cy="219456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99248" y="196596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판정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549640" y="196596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앱이 잔량 · 수명 · 환경을 읽어 상태를 확정한다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15200" y="2679192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79792" y="2880360"/>
            <a:ext cx="82296" cy="219456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99248" y="267919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동기화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49640" y="26791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판정이 기기 LCD에 그대로 표시된다 — 폰을 켜지 않아도 본체에서 확인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3392424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79792" y="3593592"/>
            <a:ext cx="82296" cy="219456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99248" y="33924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발화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549640" y="33924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스피커가 유형별 문장을 읽어준다 — 청소하면서 손을 쓰지 않고 듣는다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315200" y="4105656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79792" y="4306824"/>
            <a:ext cx="82296" cy="219456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410565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상황 인지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54964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심야이거나 영유아 가정의 낮잠 시간대면 소리를 끄고 화면 안내만 남긴다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892040"/>
            <a:ext cx="4297680" cy="786384"/>
          </a:xfrm>
          <a:prstGeom prst="roundRect">
            <a:avLst>
              <a:gd name="adj" fmla="val 10465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0" y="49834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없이도 전 구간 동작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498080" y="52212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설치형 웹앱(PWA)으로 음성 클립까지 캐시해, 발표장 네트워크가 끊겨도 온보딩부터 코칭·음성까지 그대로 돈다.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 바꾼 설정이 기기 화면과 음성으로 함께 나가는 것을 데모에서 보여드리겠습니다.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전후 비교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여기서부터 실제 앱을 띄워놓고 보여드립니다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035040" cy="429768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503274" y="1965960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15538" y="1965960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395728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395728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03274" y="2395728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 % + LED 칸 수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5538" y="2395728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3색 판정 + 세 지표 + 행동 문장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2825496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825496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503274" y="2825496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유형을 알아야 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15538" y="2825496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언어 질문 7개 · 프리셋 재사용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255264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503274" y="3255264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시야 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15538" y="3255264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반영 예측 + 교체 시점 안내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685032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685032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전달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03274" y="3685032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화면 하나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15538" y="3685032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· 기기 LCD · IoT 스피커 동시 반응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114800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114800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03274" y="4114800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오차 3.56분 · 판정 90.0%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15538" y="4114800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오차 0.98분 · 판정 96.0%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4544568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544568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503274" y="4544568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방전되면 그냥 멈춤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15538" y="4544568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 · 도중 방전 복귀까지 설계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67144" y="1929384"/>
            <a:ext cx="1190752" cy="2084832"/>
          </a:xfrm>
          <a:prstGeom prst="roundRect">
            <a:avLst>
              <a:gd name="adj" fmla="val 4608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4" name="Image 0" descr="/Users/brothrone/Desktop/a_repo/shots/01_onboard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65960"/>
            <a:ext cx="1117600" cy="20116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6812280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· 프리셋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7964424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8074152" y="1929384"/>
            <a:ext cx="1439973" cy="2084832"/>
          </a:xfrm>
          <a:prstGeom prst="roundRect">
            <a:avLst>
              <a:gd name="adj" fmla="val 3810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8" name="Image 1" descr="/Users/brothrone/Desktop/a_repo/shots/04_q_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965960"/>
            <a:ext cx="1366821" cy="201168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8019288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9171432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9281160" y="1929384"/>
            <a:ext cx="1016127" cy="2084832"/>
          </a:xfrm>
          <a:prstGeom prst="roundRect">
            <a:avLst>
              <a:gd name="adj" fmla="val 5399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2" name="Image 2" descr="/Users/brothrone/Desktop/a_repo/shots/07_resu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1965960"/>
            <a:ext cx="942975" cy="201168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226296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10378440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5" name="Shape 40"/>
          <p:cNvSpPr/>
          <p:nvPr/>
        </p:nvSpPr>
        <p:spPr>
          <a:xfrm>
            <a:off x="10488168" y="1929384"/>
            <a:ext cx="1123427" cy="2084832"/>
          </a:xfrm>
          <a:prstGeom prst="roundRect">
            <a:avLst>
              <a:gd name="adj" fmla="val 4884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6" name="Image 3" descr="/Users/brothrone/Desktop/a_repo/shots/08_coach_ok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4744" y="1965960"/>
            <a:ext cx="1050275" cy="201168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0433304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화면</a:t>
            </a:r>
            <a:endParaRPr lang="en-US" sz="850" dirty="0"/>
          </a:p>
        </p:txBody>
      </p:sp>
      <p:sp>
        <p:nvSpPr>
          <p:cNvPr id="48" name="Text 42"/>
          <p:cNvSpPr/>
          <p:nvPr/>
        </p:nvSpPr>
        <p:spPr>
          <a:xfrm>
            <a:off x="6903720" y="44531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판정별로 버튼 자체가 달라진다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6903720" y="4818888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7086600" y="476402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00" dirty="0"/>
          </a:p>
        </p:txBody>
      </p:sp>
      <p:sp>
        <p:nvSpPr>
          <p:cNvPr id="51" name="Text 45"/>
          <p:cNvSpPr/>
          <p:nvPr/>
        </p:nvSpPr>
        <p:spPr>
          <a:xfrm>
            <a:off x="8138160" y="47640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“청소 시작 · 5구역”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903720" y="5166360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7086600" y="51114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8138160" y="511149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“저소음으로 청소 (여유 확보)”</a:t>
            </a:r>
            <a:endParaRPr lang="en-US" sz="900" dirty="0"/>
          </a:p>
        </p:txBody>
      </p:sp>
      <p:sp>
        <p:nvSpPr>
          <p:cNvPr id="55" name="Shape 49"/>
          <p:cNvSpPr/>
          <p:nvPr/>
        </p:nvSpPr>
        <p:spPr>
          <a:xfrm>
            <a:off x="6903720" y="551383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0"/>
          <p:cNvSpPr/>
          <p:nvPr/>
        </p:nvSpPr>
        <p:spPr>
          <a:xfrm>
            <a:off x="7086600" y="5458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8138160" y="5458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후 시작 · 구역 줄여서 시작”</a:t>
            </a:r>
            <a:endParaRPr lang="en-US" sz="900" dirty="0"/>
          </a:p>
        </p:txBody>
      </p:sp>
      <p:sp>
        <p:nvSpPr>
          <p:cNvPr id="58" name="Shape 52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60" name="Text 54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온보딩부터 판정이 뒤집히는 것까지, 지금부터 앱에서 직접 보여드리겠습니다.</a:t>
            </a:r>
            <a:endParaRPr lang="en-US" sz="1050" dirty="0"/>
          </a:p>
        </p:txBody>
      </p:sp>
      <p:sp>
        <p:nvSpPr>
          <p:cNvPr id="61" name="Text 55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예측 계산식 검증 상세는 Appendix A3~A5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C9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 활용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왼쪽은 AI가 한 일, 오른쪽은 그래서 사용자가 안 해도 되는 일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574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20574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추론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10128" y="205740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 7개 → 세부 유형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0" y="2340864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583680" y="2057400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57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유형을 몰라도 개인화가 성립한다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15768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" y="2715768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71576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소모율 예측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10128" y="27157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 · 평수 · 구역 → 여유 시간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035040" y="2999232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27157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2715768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가능”이라는 말을 믿을 수 있게 됐다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374136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374136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78992" y="33741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반영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10128" y="33741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→ 가용 시간 −20%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657600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583680" y="3374136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3374136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배터리가 늙어도 안내가 계속 맞는다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032504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78992" y="40325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잔차 진단으로 식 수정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10128" y="403250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한쪽 쏠림 → 누락 항 신설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035040" y="4315968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583680" y="4032504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403250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 방전이 사라졌다 (오차 3.56 → 0.98분)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4690872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469087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78992" y="46908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상황 인지 · IoT 연동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310128" y="46908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시간대 · 유형 → 음성/화면 전환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035040" y="4974336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583680" y="4690872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9087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알림이 민폐가 되지 않고, 손을 쓰지 않아도 된다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536752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233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36752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 개발 과정 자체 — Claude Code로 프로토타입 구현과 검증 파이프라인을 구성해 1년치 사용 이력을 반복 재분석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66928" y="604418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비용 제거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493008" y="6300216"/>
            <a:ext cx="457200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449884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예방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059168" y="6300216"/>
            <a:ext cx="457200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806500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복구 경로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6928" y="635508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 코칭 문장은 사용자의 언어 — 번역기는 실제로 동작합니다.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파급효과와 확장성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· 문장 · 음성을 분리해 두어, 확장은 데이터와 계약만 있으면 된다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148840"/>
            <a:ext cx="82296" cy="27432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0939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실기기 재검증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87552" y="242316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이력 → 재계산 → 결과 검증 파이프라인을 실측 로그에 그대로 적용 — 설계 잠정치를 실측값으로 대체한다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965960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1656" y="2148840"/>
            <a:ext cx="82296" cy="27432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20939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 배터리 가전 이식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11112" y="242316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로직이 화면과 분리된 순수 함수라, 로봇청소기 등 다른 배터리 가전에 동일 구조로 이식할 수 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" y="3593592"/>
            <a:ext cx="82296" cy="274320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538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콘텐츠 확장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87552" y="3867912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보이스팩·코칭 문장은 판정 로직 수정 없이 데이터 추가만으로 확장 — 이번 구현에서 15종까지 확인했다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0488" y="3410712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3593592"/>
            <a:ext cx="82296" cy="27432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11112" y="3538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케어 서비스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11112" y="3867912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기반 교체 시점 안내를 소모품 구독·AS 예약으로 연결 — IoT 스피커·기기 LCD 연동은 이미 동작한다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120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역할 분담 · 5인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86384" y="5413248"/>
            <a:ext cx="1212494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413248"/>
            <a:ext cx="12124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모델링·시뮬레이션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26894" y="5413248"/>
            <a:ext cx="912571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26894" y="5413248"/>
            <a:ext cx="9125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분석·검증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67482" y="5413248"/>
            <a:ext cx="83759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67482" y="5413248"/>
            <a:ext cx="837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UX·화면 설계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133088" y="5413248"/>
            <a:ext cx="83759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33088" y="5413248"/>
            <a:ext cx="837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프로토타입 개발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98694" y="5413248"/>
            <a:ext cx="687629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98694" y="5413248"/>
            <a:ext cx="687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문서화·발표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66928" y="60350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 코칭 문장은 사용자의 언어 — 같은 번역기가 다음 기기에서도 동작합니다.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10종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계열 5종(A~E) × 갈림 기준 1개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5096" cy="347472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· 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90489" y="196596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리스크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185916" y="196596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코칭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165751" y="196596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소모율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2313432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313432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A-1 가끔·방치형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90489" y="2313432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저SOC 장기 보관 → 자가방전 열화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85916" y="2313432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미사용 시 55% 보관 충전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165751" y="2313432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2660904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660904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A-2 가끔·상시거치형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90489" y="2660904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 상시 유지 → 고SOC 스트레스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85916" y="2660904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상한 충전 권장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65751" y="2660904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008376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008376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 짧고 잦은 터보상시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90489" y="3008376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고전류 방전 및 발열 누적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5916" y="3008376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터보 8분 = 표준 15분, 모드 다이어트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65751" y="3008376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4.289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6928" y="3355848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3355848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 짧고 잦은 스팟터보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90489" y="3355848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특이 리스크 없음 (기준 그룹)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85916" y="3355848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배터리 효율 점수 리포트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165751" y="3355848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3.341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703320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0332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 장시간 완주형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090489" y="370332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1회 방전 심도(DoD) 과다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85916" y="370332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종료 예상 잔량 표시 · DoD 70% 상한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165751" y="370332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050792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4050792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C-2 장시간 분할형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90489" y="4050792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등가 사이클 카운트 급증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5916" y="4050792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2회=0.9사이클, 통합 1회=0.7사이클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65751" y="4050792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4398264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398264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 고빈도 다중세션형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090489" y="4398264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불가 + 급속충전 발열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85916" y="4398264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 직후 5분 냉각 대기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165751" y="4398264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4.052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66928" y="4745736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" y="4745736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D-2 고빈도 팩교체형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090489" y="4745736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팩별 사용 불균형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85916" y="4745736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팩별 사이클 편차 표시 · 교체 시점 예고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165751" y="4745736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4.052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66928" y="5093208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093208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 주말 집중형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090489" y="5093208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주중 방전 방치 + 여유 시간 부족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185916" y="5093208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청소일 12시간 전 사전 충전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165751" y="5093208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66928" y="5440680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" y="544068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E-2 균등 분산형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090489" y="544068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특이 리스크 없음 (기준 그룹)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85916" y="544068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경고 없이 주간 요약 · 예상 수명만 표시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165751" y="544068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66928" y="59436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소모율(%/분)은 유형별 모드 사용 비율에서 나온다 — C-1 1.881 vs B-1 4.289가 그 차이다.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2 · 결론 3에서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추론 규칙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추론은 임의 분류가 아니라 명시적 규칙이다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9659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 평수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62656" y="208483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248" y="19659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46888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24688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· 러그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62656" y="258775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27248" y="24688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97180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29718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반려동물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62656" y="309067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27248" y="29718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347472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" y="34747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머리카락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62656" y="359359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27248" y="347472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97764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" y="39776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시간대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62656" y="4096512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27248" y="39776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무음 정책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448056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44805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번에 몰아서?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62656" y="459943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27248" y="44805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분기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66928" y="498348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49834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거치대 상시?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510235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27248" y="49834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분기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66928" y="5577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분기용 2개 · 예측 파라미터 4개 · 무음 정책 1개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337560"/>
            <a:ext cx="1463040" cy="731520"/>
          </a:xfrm>
          <a:prstGeom prst="roundRect">
            <a:avLst>
              <a:gd name="adj" fmla="val 8750"/>
            </a:avLst>
          </a:prstGeom>
          <a:solidFill>
            <a:srgbClr val="14181D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33375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</a:t>
            </a:r>
            <a:endParaRPr lang="en-US" sz="1000" dirty="0"/>
          </a:p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26280" y="3703320"/>
            <a:ext cx="27432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355080" y="3703320"/>
            <a:ext cx="27432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812280" y="2286000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0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A계열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286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거치대 상시 거치 → A-2 / 쓸 때만 → A-1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12280" y="2944368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9443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B계열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0" y="2944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B-1 / 나눠서 → B-2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12280" y="3602736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360273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C계열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0" y="360273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C-1 / 나눠서 → C-2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812280" y="4261104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42611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D계열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772400" y="42611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D-2 / 나눠서 → D-1   ※ 방향이 반대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12280" y="4919472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49194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E계열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0" y="491947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E-1 / 나눠서 → E-2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58521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근거는 문장으로 되돌려준다 — “거치대에 항상 꽂아두는 습관 → 만충이 오래 유지되어 고SOC 스트레스가 쌓입니다”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2에서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계산식 구조 변경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항을 신설하고, 항이 붙는 위치를 옮겼다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756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정의서 원문식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6384" y="23682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(잔량 − 예비 잔량) × 온도·SOH 보정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 모드별 소모율 (설계 잠정 1.7 / 2.5 / 5.0)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2560320"/>
            <a:ext cx="256032" cy="0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236208" y="1965960"/>
            <a:ext cx="5376672" cy="1188720"/>
          </a:xfrm>
          <a:prstGeom prst="roundRect">
            <a:avLst>
              <a:gd name="adj" fmla="val 7692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664" y="20756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3차 최종 보정식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55664" y="23682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(잔량 − 예비 잔량 − 기동 전력)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 [ 기준 소모율 × 부하 × 온도 × (1 + 전압강하 항) 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493008"/>
            <a:ext cx="82296" cy="201168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32918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없던 항 신설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35808" y="329184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기동 전력 c₀ = 2.14% · 저잔량 전압강하 β = 0.237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73568" y="32918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식에 없는 항 47.5% 해소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950208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151376"/>
            <a:ext cx="82296" cy="201168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395020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값 재추정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35808" y="395020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모드별 소모율 = 1.56 / 2.63 / 5.00 (%/분)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73568" y="39502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값이 틀린 항 33.9% 해소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809744"/>
            <a:ext cx="82296" cy="201168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976" y="4608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위치 이동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35808" y="460857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계수를 가용 용량 → 소모 속도로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73568" y="46085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위치가 틀린 항 18.5% 해소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예비 잔량 5%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1323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아래는 실사용 시간에서 제외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40156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4787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보정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54787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18℃ 미만 · 30℃ 초과에만 작동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3620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부하 계수 ≤ 1.40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8251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0.15 · 반려동물 0.10 · 장모 0.08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07084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1715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21715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실효 소모율의 분모로 적용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66928" y="59984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슬라이드용으로 다시 쓴 식이 아니라, 코칭 화면의 세 지표를 만들어내는 앱의 그 함수다.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결론 1에서 연결 · 3식 비교는 A4 · 오차 분해는 A5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계산식 3종 비교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데이터 13,392건 · 동일 조건 비교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858000" cy="420624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990088" y="1965960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오차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81628" y="196596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편향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841748" y="196596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144768" y="19659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30568" y="19659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2386584"/>
            <a:ext cx="6858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8658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정의서 원문식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90088" y="2386584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81628" y="238658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+3.56분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1748" y="2386584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90.0%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44768" y="238658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30568" y="238658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0.8645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807208"/>
            <a:ext cx="6858000" cy="420624"/>
          </a:xfrm>
          <a:prstGeom prst="rect">
            <a:avLst/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28072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3차 최종 보정식 (채택)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90088" y="2807208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0.98분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81628" y="280720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−0.12분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1748" y="2807208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44768" y="2807208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30568" y="2807208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0.9710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3227832"/>
            <a:ext cx="6858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3227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간단 회귀 (변수 5개)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990088" y="3227832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1.71분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81628" y="3227832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−0.08분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1748" y="3227832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44768" y="32278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30568" y="32278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0.9562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편향 부호가 핵심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427024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원문식만 +3.56분으로 전량 과대추정이라 “완주 가능”이라 해놓고 꺼지는 방향으로만 틀린다. 나머지 둘은 사실상 무편향이다.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물리식이 회귀보다 정확했고, 각 항의 의미를 설명할 수 있어 해석 가능성에서도 앞선다.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68096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앱의 판정 경계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0960" y="23317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18120" y="2432304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28432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5분 이상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692640" y="23317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680960" y="27889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818120" y="2889504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28432" y="2788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0 ~ 5분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692640" y="2788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680960" y="32461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18120" y="3346704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28432" y="32461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음수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692640" y="3246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680960" y="37033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18120" y="3803904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28432" y="37033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만충으로도 음수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692640" y="3703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80960" y="42519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 잔량은 고정값이 아니라, 목표 여유 시간을 만족하는 잔량을 조건별로 역산해 얻는다.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5532120"/>
            <a:ext cx="11055096" cy="658368"/>
          </a:xfrm>
          <a:prstGeom prst="roundRect">
            <a:avLst>
              <a:gd name="adj" fmla="val 1111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9808" y="5532120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집계 기준 각주 — 대시보드에는 세션 단위 전체 집계(3.71 → 0.32분, 89% → 99%)도 함께 실려 있습니다. 발표 수치는 모델별 결과 집계 기준(3.56 → 0.98분, 90.0% → 96.0%)으로 통일했습니다.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3 · 결론 1에서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요인 분해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진단이 처방을 지목했다 — 튜닝으로는 최대 33.9%까지만</a:t>
            </a:r>
            <a:endParaRPr lang="en-US" sz="1250" dirty="0"/>
          </a:p>
        </p:txBody>
      </p:sp>
      <p:pic>
        <p:nvPicPr>
          <p:cNvPr id="5" name="Image 0" descr="/Users/brothrone/Desktop/a_repo/figs/fig4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5394960" cy="3063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9476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098280" y="19476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처방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0" y="21945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0" y="25968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식에 없는 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95360" y="2468880"/>
            <a:ext cx="365760" cy="0"/>
          </a:xfrm>
          <a:prstGeom prst="line">
            <a:avLst/>
          </a:prstGeom>
          <a:noFill/>
          <a:ln w="17780">
            <a:solidFill>
              <a:srgbClr val="D93B41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98280" y="217627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35440" y="217627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기동 전력 · 전압강하 항 신설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33.9%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00800" y="35570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값이 틀린 항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595360" y="3429000"/>
            <a:ext cx="365760" cy="0"/>
          </a:xfrm>
          <a:prstGeom prst="line">
            <a:avLst/>
          </a:prstGeom>
          <a:noFill/>
          <a:ln w="17780">
            <a:solidFill>
              <a:srgbClr val="DF8A1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9098280" y="313639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35440" y="31363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모드별 소모율 재추정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400800" y="4114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400800" y="45171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위치가 틀린 항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4389120"/>
            <a:ext cx="365760" cy="0"/>
          </a:xfrm>
          <a:prstGeom prst="line">
            <a:avLst/>
          </a:prstGeom>
          <a:noFill/>
          <a:ln w="17780">
            <a:solidFill>
              <a:srgbClr val="1FA97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098280" y="409651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35440" y="409651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계수를 소모 속도로 이동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562356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잔차를 조건별(모드 · 잔량 구간 · 온도 · 세션 길이)로 층화해 각 층에 남는 계통적 패턴을 추적했다. 계수만 다시 맞췄다면 오차의 절반도 잡지 못했다.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결론 1에서 연결 · 처방의 실제 형태는 A3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모델별 검증 결과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10종 전부 개선 · 가장 어려운 케이스도 함께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023360" y="1874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600200" y="1874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보정식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35240" y="18745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개선율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24482" y="2185416"/>
            <a:ext cx="2341047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01520" y="212140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60474" y="212140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5256" y="20665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35240" y="20665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55058" y="2551176"/>
            <a:ext cx="257421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5269" y="248716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1050" y="248716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9005" y="24323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35240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27980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36404" y="2916936"/>
            <a:ext cx="1473647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46043" y="285292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72396" y="285292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19779" y="2798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35240" y="27980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−66%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31638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71116" y="3282696"/>
            <a:ext cx="215450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61617" y="321868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7108" y="321868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35353" y="31638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35240" y="31638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−75%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6928" y="35295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96017" y="3648456"/>
            <a:ext cx="3572195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04204" y="358444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2009" y="358444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7940" y="3529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35240" y="35295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−73%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6928" y="38953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68036" y="4014216"/>
            <a:ext cx="3861328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65357" y="395020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04028" y="395020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9093" y="38953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635240" y="38953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−75%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66928" y="4261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117750" y="4379976"/>
            <a:ext cx="125912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12871" y="431596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53742" y="431596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86607" y="42611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635240" y="42611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−63%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66928" y="46268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11019" y="4745736"/>
            <a:ext cx="1399032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46043" y="468172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47011" y="468172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19779" y="46268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635240" y="4626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−62%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566928" y="49926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015155" y="5111496"/>
            <a:ext cx="2257105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208252" y="504748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51147" y="504748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1988" y="49926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635240" y="49926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66928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192365" y="5477256"/>
            <a:ext cx="2891333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019690" y="541324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128357" y="541324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93426" y="53583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3.98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635240" y="5358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778240" y="196596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42832" y="2075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어려운 케이스 — C-1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942832" y="2331720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정확도는 보정 후에도 76%로 10종 중 유일하게 낮다. 다만 개선폭은 55% → 76%로 가장 크다. 세션이 길수록 작은 예측 오차가 완주 여부를 뒤집기 쉽기 때문이다.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8778240" y="347472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942832" y="35753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개선 — E-1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942832" y="38313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 50% → 97%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152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설치형 웹앱 · 오프라인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152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HTML 기반 PWA. 서비스워커가 음성 클립까지 전 자산을 캐시해 네트워크가 끊겨도 전 구간 동작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6168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2628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제어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452628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경계” · “빠듯 경계” 버튼은 목표 여유 시간을 만족하는 잔량을 역산해 즉시 점프시킨다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15644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32104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재현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32104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이력 → 재계산 스크립트 → 결과 데이터로 수치 전량 재현 가능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· SOH 상세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대비 — 용어 정의와 수명 판정 기준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5096" cy="457200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27183" y="1965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(State of Charge)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070324" y="1965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(State of Health)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4231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231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뜻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427183" y="24231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남은 충전량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070324" y="24231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신품 대비 남은 성능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2880360"/>
            <a:ext cx="11055096" cy="457200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8803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427183" y="28803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~ 100% · 쓰면 줄고 충전하면 회복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70324" y="28803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100%에서 시작해 단조 감소 · 회복 안 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3375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3375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변하는 속도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427183" y="33375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번의 청소로도 크게 변함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70324" y="33375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수백 사이클에 걸쳐 서서히 변함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794760"/>
            <a:ext cx="11055096" cy="457200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7947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답하는 질문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27183" y="37947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이 청소를 끝낼 수 있는가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070324" y="37947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얼마나 더 쓸 수 있는가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2519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2519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앱에서의 쓰임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427183" y="4251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판정(완주/빠듯/충전)의 입력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070324" y="4251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예측식의 소모 속도 보정 + 교체 시점 안내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484632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651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흔한 오해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86384" y="531088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" y="5257800"/>
            <a:ext cx="4818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“SOH 50%면 SOC도 50%” — 아니다. 완전히 다른 축이다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86384" y="578637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5733288"/>
            <a:ext cx="4818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50%인 배터리도 만충하면 SOC는 100%가 된다. 다만 그 100%가 담는 에너지가 절반이다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36208" y="4846320"/>
            <a:ext cx="5376672" cy="1371600"/>
          </a:xfrm>
          <a:prstGeom prst="roundRect">
            <a:avLst>
              <a:gd name="adj" fmla="val 6667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5664" y="49651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판정 기준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55664" y="531088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20256" y="5257800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업계 통상 기준 — SOH 80% 미만이면 수명이 다한 것으로 본다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55664" y="569493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0256" y="5641848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앱은 SOH 80% 미만에서 코칭 화면에 “교체 검토” 안내를 띄운다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55664" y="607898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0256" y="6025896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방식 — 실효 소모율 ÷ SOH. SOH 80%면 소모 속도 1.25배, 가용 시간 20% 감소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66928" y="58978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SOH를 넣기 전에는 배터리가 늙을수록 안내가 낙관적으로 틀렸다. 넣고 나서는 수명이 닳아도 안내가 계속 맞는다.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서론 2 · 본론 4에서 연결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라이프 코칭 UX</dc:title>
  <dc:subject>PptxGenJS Presentation</dc:subject>
  <dc:creator>파라써블</dc:creator>
  <cp:lastModifiedBy>파라써블</cp:lastModifiedBy>
  <cp:revision>1</cp:revision>
  <dcterms:created xsi:type="dcterms:W3CDTF">2026-09-02T10:44:42Z</dcterms:created>
  <dcterms:modified xsi:type="dcterms:W3CDTF">2026-09-02T10:44:42Z</dcterms:modified>
</cp:coreProperties>
</file>