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[15초] 안녕하십니까, 파라써블입니다. 저희는 배터리 잔량을 사용자의 행동으로 번역하는 코칭 UI를 만들었습니다. 오른쪽은 지금 실제로 동작하는 앱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왼쪽은 잔량 82%인데 완주 가능, 오른쪽은 81%인데 빠듯함입니다. 평수와 소모 조건이 다르기 때문입니다. 잔량이 같아도 조건이 다르면 답이 갈리므로, 숫자만으로는 지금 시작해도 되는지 알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배터리를 두 숫자로 읽습니다. SOC는 지금 잔량, SOH는 수명입니다. 둘은 독립된 축이고, SOH 80% 미만이면 통상 수명이 다한 것으로 봅니다. 이 둘을 함께 읽어 행동 판정, 유형별 개인화, 수명 코칭 세 가지를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온보딩, 코칭, 실행 세 단계이고 사용자가 손대는 곳은 실선 네 군데뿐입니다. 분할 청소와 도중 방전 같은 실패 상황까지 경로로 설계했습니다. 다음 장부터는 이 지도의 지점을 확대한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유형을 고르게 하는 대신 “카펫을 쓰시나요” 같은 생활 언어 질문 일곱 개로 묻고, 유형은 앱이 추론해 근거와 함께 보여줍니다. 답한 설정은 프리셋으로 저장해 다음부터는 한 번에 불러옵니다.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잔량 임계값 대신 여유 시간으로 판정합니다. 5분 이상이면 완주 가능, 0에서 5분은 빠듯함, 음수면 충전 필요입니다. 판정이 셋인 이유는 사용자가 고를 행동이 셋뿐이기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두 화면 모두 잔량 82%지만 SOH 78%인 오른쪽은 37분이 아니라 29분만 쓸 수 있습니다. SOH를 소모 속도에 반영해 배터리가 늙어도 안내가 계속 맞고, 80% 미만이면 교체 시점을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판정은 앱 한 곳에서 하고, 표현은 세 곳으로 나눕니다. 같은 판정이 기기 LCD에 그대로 뜨고, IoT 스피커가 유형별 문장을 읽어줍니다. 심야나 낮잠 시간대에는 소리를 끄고 화면 안내만 남깁니다. 네트워크가 없어도 전 구간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 → 데모] 잔량만 보여주던 화면이 행동까지 답하게 됐습니다. 수명과 기기 연동이 이번에 새로 생긴 줄입니다. 지금부터 실제 앱에서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 AI는 판단이 필요한 다섯 자리에 들어갔습니다. 유형 추론, 여유 시간 예측, 수명 반영, 잔차 진단으로 식 수정, 상황 인지와 IoT 연동. 사용자 입장에서는 전부 “안 해도 되는 일”이 됐습니다. 개발 과정 자체도 Claude Code로 1년치 사용 이력을 반복 분석했습니다.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[25초] 판정, 문장, 음성이 분리돼 있어 확장이 쉽습니다. 실기기 로그가 오면 같은 파이프라인으로 재검증하고, 같은 구조를 다른 배터리 가전에 이식할 수 있으며, SOH 기반 교체 안내는 배터리 케어 서비스로 이어집니다.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오면 여기로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D계열만 매핑이 반대다.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앱에 도는 식과 슬라이드의 식이 같다고 분명히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집계 단위가 달라 두 세트가 있다고 먼저 밝힌다.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검증과 진단을 가르는 지점이다.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C-1 76%를 먼저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“SOH 50이면 SOC도 50이냐”는 오해를 여기서 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D11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85632" y="512064"/>
            <a:ext cx="2813007" cy="5833872"/>
          </a:xfrm>
          <a:prstGeom prst="roundRect">
            <a:avLst>
              <a:gd name="adj" fmla="val 1950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4" name="Image 0" descr="/Users/brothrone/Desktop/a_repo/shots/08_coach_o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08" y="548640"/>
            <a:ext cx="2739855" cy="5760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691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파라써블 × 부산대학교 · 미래 AX 생활가전 리빙 솔루션+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22402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00"/>
              </a:lnSpc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잔량은 기기의 언어,</a:t>
            </a:r>
            <a:endParaRPr lang="en-US" sz="3800" dirty="0"/>
          </a:p>
          <a:p>
            <a:pPr indent="0" marL="0">
              <a:lnSpc>
                <a:spcPts val="5100"/>
              </a:lnSpc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코칭 문장은 사용자의 언어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40233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9B5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잔량 → 지금 할 행동 · LG AI Home 기반 코칭 UI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보여드리는 화면은 전부 실제로 도는 앱 화면입니다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 82% vs 81% · 판정은 반대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29384"/>
            <a:ext cx="1551804" cy="3182112"/>
          </a:xfrm>
          <a:prstGeom prst="roundRect">
            <a:avLst>
              <a:gd name="adj" fmla="val 3535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6" name="Image 0" descr="/Users/brothrone/Desktop/a_repo/shots/08_coach_o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5960"/>
            <a:ext cx="1478652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5166360"/>
            <a:ext cx="22101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 · 24평 · 82%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5376672"/>
            <a:ext cx="22101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+15분 → 완주 가능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95728" y="1929384"/>
            <a:ext cx="1509757" cy="3182112"/>
          </a:xfrm>
          <a:prstGeom prst="roundRect">
            <a:avLst>
              <a:gd name="adj" fmla="val 3634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10" name="Image 1" descr="/Users/brothrone/Desktop/a_repo/shots/09_coach_tight_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1965960"/>
            <a:ext cx="1436605" cy="3108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66544" y="5166360"/>
            <a:ext cx="21681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E-1 · 28평 · 81%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066544" y="5376672"/>
            <a:ext cx="21681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+2분 → 빠듯함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0" y="2078736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6592" y="2011680"/>
            <a:ext cx="6876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던지는 질문 — 지금 시작하면 끝까지 되나 / 어디까지 가능한가 / 중간에 꺼지면 어떡하나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2700528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36592" y="2633472"/>
            <a:ext cx="6876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기기가 주는 답은 잔량 %와 LED 칸 수가 전부. 그다음 판단은 전부 사용자 몫이다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0" y="3322320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36592" y="3255264"/>
            <a:ext cx="6876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잔량은 1%p 차이인데 판정이 갈렸다 — 평수 24 vs 28, 소모 조건이 다르기 때문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0" y="3944112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36592" y="3877056"/>
            <a:ext cx="6876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여부를 정하는 건 잔량이 아니라 여유 시간이다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0" y="4565904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36592" y="4498848"/>
            <a:ext cx="6876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게다가 배터리는 쓸수록 늙는다. 같은 82%라도 새 배터리와 2년 쓴 배터리는 다르다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0" y="5074920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36592" y="507492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화면은 조건이 다릅니다. 잔량이 같아도 조건이 다르면 답이 갈리므로, 잔량만으로는 원리적으로 판단할 수 없습니다.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SOC와 SOH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잔량 · SOH 수명 · 서로 다른 두 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Charge · 충전 상태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얼마나 남았나. 쓰면 줄고 충전하면 다시 100%가 된다.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5570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답하는 질문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4672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 청소를 끝낼 수 있는가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196596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12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8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2587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Health · 건강 상태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45152" y="2880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배터리가 얼마나 늙었나. 신품이 100%이고, 한 번 줄면 돌아오지 않는다.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35570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답하는 질문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45152" y="3776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 이 배터리를 얼마나 더 쓸 수 있는가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47888" y="19659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C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112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오해하는 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85632" y="2476246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50224" y="24231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50%라고 해서 SOC가 50%인 건 아니다. 서로 다른 축이다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85632" y="3043174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0224" y="2990088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80% 미만이면 통상 수명이 다한 것으로 본다 — 교체를 검토할 시점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85632" y="3610102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0224" y="3557016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SOH가 낮으면 만충을 해도 쓸 수 있는 시간 자체가 짧아진다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만든 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82296" cy="45720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4992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판정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가능 / 빠듯함 / 충전 필요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07408" y="5029200"/>
            <a:ext cx="82296" cy="45720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4992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개인화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26864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습관에서 자동 추론 · 프리셋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47888" y="5029200"/>
            <a:ext cx="82296" cy="45720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4992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 코칭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67344" y="5266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기반 사용·보관 가이드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SOC · SOH 상세와 수명 판정 기준은 Appendix A7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본론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설계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 = 사용자 입력 4곳 · 점선 = 앱 자동 처리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105509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11055096" cy="1463040"/>
          </a:xfrm>
          <a:prstGeom prst="rect">
            <a:avLst/>
          </a:prstGeom>
          <a:solidFill>
            <a:srgbClr val="FAFB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557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코칭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4892040"/>
            <a:ext cx="11055096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138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80160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실행</a:t>
            </a:r>
            <a:endParaRPr lang="en-US" sz="800" dirty="0"/>
          </a:p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프리셋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39696" y="242316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12848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A~E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72384" y="242316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45536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7개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05072" y="242316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78224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79838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123944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유형</a:t>
            </a:r>
            <a:endParaRPr lang="en-US" sz="800" dirty="0"/>
          </a:p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판정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242316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10912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요약</a:t>
            </a:r>
            <a:endParaRPr lang="en-US" sz="800" dirty="0"/>
          </a:p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저장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70448" y="242316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139696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13969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보이스팩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80160" y="3429000"/>
            <a:ext cx="85953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D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342900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코칭 홈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39696" y="370332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212848" y="3429000"/>
            <a:ext cx="85953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DE3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58568" y="3429000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 선택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72384" y="3703320"/>
            <a:ext cx="73152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45536" y="3374136"/>
            <a:ext cx="1097280" cy="658368"/>
          </a:xfrm>
          <a:prstGeom prst="roundRect">
            <a:avLst>
              <a:gd name="adj" fmla="val 9722"/>
            </a:avLst>
          </a:prstGeom>
          <a:solidFill>
            <a:srgbClr val="14181D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91256" y="337413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판정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42816" y="3703320"/>
            <a:ext cx="603504" cy="0"/>
          </a:xfrm>
          <a:prstGeom prst="line">
            <a:avLst/>
          </a:prstGeom>
          <a:noFill/>
          <a:ln w="15240">
            <a:solidFill>
              <a:srgbClr val="CBD3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703320"/>
            <a:ext cx="0" cy="201168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87952" y="3941064"/>
            <a:ext cx="13167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0320">
            <a:solidFill>
              <a:srgbClr val="1FA9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3941064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가능</a:t>
            </a:r>
            <a:endParaRPr lang="en-US" sz="850" dirty="0"/>
          </a:p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1FA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시작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42816" y="3703320"/>
            <a:ext cx="2020824" cy="0"/>
          </a:xfrm>
          <a:prstGeom prst="line">
            <a:avLst/>
          </a:prstGeom>
          <a:noFill/>
          <a:ln w="15240">
            <a:solidFill>
              <a:srgbClr val="CBD3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3703320"/>
            <a:ext cx="0" cy="201168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05272" y="3941064"/>
            <a:ext cx="13167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0320">
            <a:solidFill>
              <a:srgbClr val="DF8A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50992" y="3941064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F8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빠듯함</a:t>
            </a:r>
            <a:endParaRPr lang="en-US" sz="850" dirty="0"/>
          </a:p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F8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저소음 전환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42816" y="3703320"/>
            <a:ext cx="3438144" cy="0"/>
          </a:xfrm>
          <a:prstGeom prst="line">
            <a:avLst/>
          </a:prstGeom>
          <a:noFill/>
          <a:ln w="15240">
            <a:solidFill>
              <a:srgbClr val="CBD3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3703320"/>
            <a:ext cx="0" cy="201168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22592" y="3941064"/>
            <a:ext cx="13167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0320">
            <a:solidFill>
              <a:srgbClr val="D9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3941064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9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필요</a:t>
            </a:r>
            <a:endParaRPr lang="en-US" sz="850" dirty="0"/>
          </a:p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93B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충전·구역 축소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242816" y="3703320"/>
            <a:ext cx="4855464" cy="0"/>
          </a:xfrm>
          <a:prstGeom prst="line">
            <a:avLst/>
          </a:prstGeom>
          <a:noFill/>
          <a:ln w="15240">
            <a:solidFill>
              <a:srgbClr val="CBD3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98280" y="3703320"/>
            <a:ext cx="0" cy="201168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439912" y="3941064"/>
            <a:ext cx="13167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20320">
            <a:solidFill>
              <a:srgbClr val="DF8A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85632" y="3941064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F8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분할 청소</a:t>
            </a:r>
            <a:endParaRPr lang="en-US" sz="850" dirty="0"/>
          </a:p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DF8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1차→충전→2차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424160" y="3941064"/>
            <a:ext cx="11887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875">
            <a:solidFill>
              <a:srgbClr val="79838C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10469880" y="39410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무음 시간대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840480" y="4983480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DE3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86200" y="4983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청소 진행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120640" y="5257800"/>
            <a:ext cx="91440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230368" y="498348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DE3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76088" y="4983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· 거치대 복귀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03136" y="4983480"/>
            <a:ext cx="1371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F8A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48856" y="4983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완료 → 충전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74736" y="5257800"/>
            <a:ext cx="91440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284464" y="498348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F8A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30184" y="4983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청소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424160" y="4983480"/>
            <a:ext cx="11887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D93B41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10469880" y="4983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청소 도중 방전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66928" y="56692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실패도 경로 안에 넣었다 — 만충으로도 안 되는 범위는 시작 전에 분할 청소로 분류하고, 도중에 방전돼도 복귀 후 이어서 진행한다.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동선 전체는 잠시 후 데모에서 처음부터 끝까지 이어서 보여드리겠습니다.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본론 2 · 개선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질문형 온보딩과 프리셋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언어 질문 7개 → 유형 자동 추론 → 프리셋 저장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574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기존의 불편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" y="22951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유형은 계산에 반드시 필요하다. 그런데 사용자는 자기가 어떤 유형인지 알 방법이 없다.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81528" y="3063240"/>
            <a:ext cx="0" cy="219456"/>
          </a:xfrm>
          <a:prstGeom prst="line">
            <a:avLst/>
          </a:prstGeom>
          <a:noFill/>
          <a:ln w="17780">
            <a:solidFill>
              <a:srgbClr val="7983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3375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4290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개선한 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36667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언어 질문 7개로 묻고, 답변에서 유형을 규칙 기반으로 추론한다. 한 번 답한 설정은 이름을 붙여 프리셋으로 저장한다.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4434840"/>
            <a:ext cx="0" cy="219456"/>
          </a:xfrm>
          <a:prstGeom prst="line">
            <a:avLst/>
          </a:prstGeom>
          <a:noFill/>
          <a:ln w="17780">
            <a:solidFill>
              <a:srgbClr val="14181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47091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8006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가치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50383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화면을 한 번도 열지 않는다. 다음부터는 프리셋 한 번 눌러 끝난다.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24144" y="1929384"/>
            <a:ext cx="1674973" cy="1810512"/>
          </a:xfrm>
          <a:prstGeom prst="roundRect">
            <a:avLst>
              <a:gd name="adj" fmla="val 3276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17" name="Image 0" descr="/Users/brothrone/Desktop/a_repo/shots/02_q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65960"/>
            <a:ext cx="1601821" cy="17373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415784" y="1929384"/>
            <a:ext cx="887540" cy="1810512"/>
          </a:xfrm>
          <a:prstGeom prst="roundRect">
            <a:avLst>
              <a:gd name="adj" fmla="val 6182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19" name="Image 1" descr="/Users/brothrone/Desktop/a_repo/shots/07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65960"/>
            <a:ext cx="814388" cy="173736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07424" y="1929384"/>
            <a:ext cx="875961" cy="1810512"/>
          </a:xfrm>
          <a:prstGeom prst="roundRect">
            <a:avLst>
              <a:gd name="adj" fmla="val 6263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21" name="Image 2" descr="/Users/brothrone/Desktop/a_repo/shots/13_prese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965960"/>
            <a:ext cx="802809" cy="1737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23560" y="3776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7개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7178040" y="3776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판정 · 근거 제시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869680" y="3776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프리셋 저장 · 불러오기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760720" y="42062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분기에만 쓰이지 않는다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760720" y="4566666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25312" y="4507992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평수 → 필요 청소 시간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760720" y="4950714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25312" y="4892040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카펫 · 반려동물 · 머리카락 → 흡입 부하 계수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760720" y="5334762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25312" y="5276088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청소 시간대 → 무음 정책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760720" y="5718810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925312" y="5660136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청소 · 보관 습관 → 세부 유형 분기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질문에 답하면 유형이 자동으로 잡히고, 저장한 프리셋을 바로 불러오는 것까지 데모에서 보여드리겠습니다.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유형 정의와 분기 규칙은 Appendix A1 · A2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본론 3 · 개선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시간 기반 판정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기준: 잔량 → 여유 시간 · 상태 3색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574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기존의 불편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" y="22951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고정 임계값은 틀린다. 같은 70%라도 평수·바닥 조건·모드가 다르면 완주 여부가 뒤집힌다.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81528" y="3063240"/>
            <a:ext cx="0" cy="219456"/>
          </a:xfrm>
          <a:prstGeom prst="line">
            <a:avLst/>
          </a:prstGeom>
          <a:noFill/>
          <a:ln w="17780">
            <a:solidFill>
              <a:srgbClr val="7983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3375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4290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개선한 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36667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잔량이 아니라 여유 시간으로 판정한다. 임계 잔량은 고정값이 아니라 목표 여유 시간에서 역산해 얻는다.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4434840"/>
            <a:ext cx="0" cy="219456"/>
          </a:xfrm>
          <a:prstGeom prst="line">
            <a:avLst/>
          </a:prstGeom>
          <a:noFill/>
          <a:ln w="17780">
            <a:solidFill>
              <a:srgbClr val="14181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47091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8006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가치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50383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“완주 가능”이라는 말을 믿을 수 있게 됐다. 머릿속 계산 세 가지를 앱이 대신한다.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0" y="19659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시간 축으로 바꾸면 깨끗이 갈린다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60720" y="2313432"/>
            <a:ext cx="2011680" cy="54864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313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필요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2313432"/>
            <a:ext cx="1188720" cy="54864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3134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빠듯함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0" y="2313432"/>
            <a:ext cx="2651760" cy="54864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3134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89520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0분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86800" y="2898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+5분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24144" y="3191256"/>
            <a:ext cx="834223" cy="1673352"/>
          </a:xfrm>
          <a:prstGeom prst="roundRect">
            <a:avLst>
              <a:gd name="adj" fmla="val 6577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26" name="Image 0" descr="/Users/brothrone/Desktop/a_repo/shots/08_coach_o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227832"/>
            <a:ext cx="761071" cy="1600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94960" y="4919472"/>
            <a:ext cx="14925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+15분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690104" y="3191256"/>
            <a:ext cx="812581" cy="1673352"/>
          </a:xfrm>
          <a:prstGeom prst="roundRect">
            <a:avLst>
              <a:gd name="adj" fmla="val 6752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29" name="Image 1" descr="/Users/brothrone/Desktop/a_repo/shots/09_coach_tight_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227832"/>
            <a:ext cx="739429" cy="1600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60920" y="4919472"/>
            <a:ext cx="14709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+2분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9656064" y="3191256"/>
            <a:ext cx="812581" cy="1673352"/>
          </a:xfrm>
          <a:prstGeom prst="roundRect">
            <a:avLst>
              <a:gd name="adj" fmla="val 6752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32" name="Image 2" descr="/Users/brothrone/Desktop/a_repo/shots/10_coach_charg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27832"/>
            <a:ext cx="739429" cy="1600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326880" y="4919472"/>
            <a:ext cx="14709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−9분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760720" y="5276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지표(예상 사용 시간 · 여유 시간 · 청소 후 잔량)는 구역을 하나 누를 때마다 전부 다시 계산된다.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잔량인데 구역을 바꾸면 판정이 실시간으로 뒤집히는 것은 데모에서 보여드리겠습니다.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임계값 역산 근거는 Appendix A4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본론 4 · 개선 ③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수명(SOH) 반영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잔량 82% · SOH만 다름 → 37분 vs 29분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574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기존의 불편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" y="22951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안내는 SOC만 본다. 배터리가 늙어도 같은 82%면 같은 시간을 쓸 수 있다고 말한다 — 그래서 중간에 꺼진다.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81528" y="3063240"/>
            <a:ext cx="0" cy="219456"/>
          </a:xfrm>
          <a:prstGeom prst="line">
            <a:avLst/>
          </a:prstGeom>
          <a:noFill/>
          <a:ln w="17780">
            <a:solidFill>
              <a:srgbClr val="7983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3375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4290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개선한 것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36667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SOH를 실효 소모율에 반영했다. SOH가 낮을수록 소모 속도가 커져 가용 시간이 짧게 산출된다.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4434840"/>
            <a:ext cx="0" cy="219456"/>
          </a:xfrm>
          <a:prstGeom prst="line">
            <a:avLst/>
          </a:prstGeom>
          <a:noFill/>
          <a:ln w="17780">
            <a:solidFill>
              <a:srgbClr val="14181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" y="4709160"/>
            <a:ext cx="5029200" cy="1060704"/>
          </a:xfrm>
          <a:prstGeom prst="roundRect">
            <a:avLst>
              <a:gd name="adj" fmla="val 8621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800600"/>
            <a:ext cx="4590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가치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5038344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수명이 닳아도 안내가 계속 맞는다. 교체 시점(SOH 80% 미만)도 미리 알려준다.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24144" y="1929384"/>
            <a:ext cx="1203886" cy="2450592"/>
          </a:xfrm>
          <a:prstGeom prst="roundRect">
            <a:avLst>
              <a:gd name="adj" fmla="val 4557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17" name="Image 0" descr="/Users/brothrone/Desktop/a_repo/shots/08_coach_o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65960"/>
            <a:ext cx="1130734" cy="23774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94960" y="4434840"/>
            <a:ext cx="186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100% · 신품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94960" y="4645152"/>
            <a:ext cx="186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37분 · 여유 +15분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98664" y="1929384"/>
            <a:ext cx="1171732" cy="2450592"/>
          </a:xfrm>
          <a:prstGeom prst="roundRect">
            <a:avLst>
              <a:gd name="adj" fmla="val 4682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21" name="Image 1" descr="/Users/brothrone/Desktop/a_repo/shots/14_soh_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65960"/>
            <a:ext cx="1098580" cy="23774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69480" y="4434840"/>
            <a:ext cx="183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78% · 교체 권장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269480" y="4645152"/>
            <a:ext cx="183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29분 · 여유 +7분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760720" y="4983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SOC 82% · 같은 24평 · 같은 5구역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9692640" y="196596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857232" y="21305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만충 가동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9857232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47분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9857232" y="2880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100%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0652760" y="3172968"/>
            <a:ext cx="0" cy="256032"/>
          </a:xfrm>
          <a:prstGeom prst="line">
            <a:avLst/>
          </a:prstGeom>
          <a:noFill/>
          <a:ln w="17780">
            <a:solidFill>
              <a:srgbClr val="9C6008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9857232" y="35387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37분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9857232" y="3995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78% · −20%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데모에서 SOH를 내리면 판정이 어떻게 바뀌는지 바로 보여드리겠습니다.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SOH 적용 방식과 수명 판정 기준은 Appendix A7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본론 5 · 개선 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AI Home 연동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1곳 · 표현 3곳 (앱 · 기기 LCD · 허브 음성)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29384"/>
            <a:ext cx="5483352" cy="3319272"/>
          </a:xfrm>
          <a:prstGeom prst="roundRect">
            <a:avLst>
              <a:gd name="adj" fmla="val 1653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6" name="Image 0" descr="/Users/brothrone/Desktop/a_repo/shots/20_desktop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5960"/>
            <a:ext cx="541020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321808"/>
            <a:ext cx="541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 ThinQ 앱 · 씽큐 온 허브 · 코드제로 A9 — 하나의 판정이 셋으로 나간다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15200" y="1965960"/>
            <a:ext cx="4297680" cy="621792"/>
          </a:xfrm>
          <a:prstGeom prst="roundRect">
            <a:avLst>
              <a:gd name="adj" fmla="val 13235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79792" y="2167128"/>
            <a:ext cx="82296" cy="219456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99248" y="19659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판정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49640" y="19659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ThinQ 앱이 잔량 · 수명 · 환경을 읽어 상태를 확정한다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0" y="2679192"/>
            <a:ext cx="4297680" cy="621792"/>
          </a:xfrm>
          <a:prstGeom prst="roundRect">
            <a:avLst>
              <a:gd name="adj" fmla="val 13235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79792" y="2880360"/>
            <a:ext cx="82296" cy="219456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99248" y="267919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동기화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49640" y="267919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판정이 코드제로 LCD에 그대로 — 폰을 켜지 않아도 본체에서 확인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315200" y="3392424"/>
            <a:ext cx="4297680" cy="621792"/>
          </a:xfrm>
          <a:prstGeom prst="roundRect">
            <a:avLst>
              <a:gd name="adj" fmla="val 13235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79792" y="3593592"/>
            <a:ext cx="82296" cy="219456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99248" y="339242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발화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49640" y="33924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씽큐 온이 유형별 문장을 읽어준다 — 청소하면서 손을 쓰지 않고 듣는다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15200" y="4105656"/>
            <a:ext cx="4297680" cy="621792"/>
          </a:xfrm>
          <a:prstGeom prst="roundRect">
            <a:avLst>
              <a:gd name="adj" fmla="val 13235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79792" y="4306824"/>
            <a:ext cx="82296" cy="219456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41056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상황 인지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49640" y="41056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심야이거나 영유아 가정의 낮잠 시간대면 소리를 끄고 화면 안내만 남긴다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315200" y="4892040"/>
            <a:ext cx="4297680" cy="786384"/>
          </a:xfrm>
          <a:prstGeom prst="roundRect">
            <a:avLst>
              <a:gd name="adj" fmla="val 10465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0" y="49834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Home 위에 얹히는 코칭 계층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98080" y="52212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Home 허브는 생성형 AI로 집 안 상태를 상시 모니터링한다. 우리 판정은 그 위에 얹히는 코칭 계층이고, 허브가 없어도 앱 단독으로 동작한다.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앱에서 바꾼 설정이 기기 화면과 음성으로 함께 나가는 것을 데모에서 보여드리겠습니다.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전후 비교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· 입력 · 수명 · 전달 · 정확도 · 실패 처리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035040" cy="429768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03274" y="1965960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5538" y="1965960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395728"/>
            <a:ext cx="60350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95728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03274" y="2395728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 % + LED 칸 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5538" y="2395728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3색 판정 + 세 지표 + 행동 문장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825496"/>
            <a:ext cx="6035040" cy="429768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25496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3274" y="2825496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유형을 알아야 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15538" y="2825496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 언어 질문 7개 · 프리셋 재사용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0350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55264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3274" y="3255264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시야 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5538" y="3255264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반영 예측 + 교체 시점 안내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85032"/>
            <a:ext cx="6035040" cy="429768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85032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03274" y="3685032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화면 하나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5538" y="3685032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ThinQ 앱 · 기기 LCD · 씽큐 온 음성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114800"/>
            <a:ext cx="60350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114800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03274" y="4114800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오차 3.56분 · 판정 90.0%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15538" y="4114800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오차 0.98분 · 판정 96.0%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544568"/>
            <a:ext cx="6035040" cy="429768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544568"/>
            <a:ext cx="6620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처리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03274" y="4544568"/>
            <a:ext cx="19293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방전되면 그냥 멈춤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15538" y="4544568"/>
            <a:ext cx="289499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분할 청소 · 도중 방전 복귀까지 설계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67144" y="1929384"/>
            <a:ext cx="1190752" cy="2084832"/>
          </a:xfrm>
          <a:prstGeom prst="roundRect">
            <a:avLst>
              <a:gd name="adj" fmla="val 4608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34" name="Image 0" descr="/Users/brothrone/Desktop/a_repo/shots/01_onboard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65960"/>
            <a:ext cx="1117600" cy="20116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812280" y="40690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· 프리셋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964424" y="2971800"/>
            <a:ext cx="128016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074152" y="1929384"/>
            <a:ext cx="1439973" cy="2084832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38" name="Image 1" descr="/Users/brothrone/Desktop/a_repo/shots/04_q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965960"/>
            <a:ext cx="1366821" cy="201168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8019288" y="40690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7개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9171432" y="2971800"/>
            <a:ext cx="128016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9281160" y="1929384"/>
            <a:ext cx="1016127" cy="2084832"/>
          </a:xfrm>
          <a:prstGeom prst="roundRect">
            <a:avLst>
              <a:gd name="adj" fmla="val 5399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42" name="Image 2" descr="/Users/brothrone/Desktop/a_repo/shots/07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1965960"/>
            <a:ext cx="942975" cy="201168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9226296" y="40690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판정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10378440" y="2971800"/>
            <a:ext cx="128016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10488168" y="1929384"/>
            <a:ext cx="1029927" cy="2084832"/>
          </a:xfrm>
          <a:prstGeom prst="roundRect">
            <a:avLst>
              <a:gd name="adj" fmla="val 5327"/>
            </a:avLst>
          </a:prstGeom>
          <a:solidFill>
            <a:srgbClr val="F4F6F7"/>
          </a:solidFill>
          <a:ln w="12700">
            <a:solidFill>
              <a:srgbClr val="DDE3E7"/>
            </a:solidFill>
            <a:prstDash val="solid"/>
          </a:ln>
        </p:spPr>
      </p:sp>
      <p:pic>
        <p:nvPicPr>
          <p:cNvPr id="46" name="Image 3" descr="/Users/brothrone/Desktop/a_repo/shots/08_coach_ok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4" y="1965960"/>
            <a:ext cx="956775" cy="201168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0433304" y="40690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코칭 화면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6903720" y="44531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판정별로 버튼 자체가 달라진다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6903720" y="4818888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7086600" y="47640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가능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8138160" y="47640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“청소 시작 · 5구역”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6903720" y="5166360"/>
            <a:ext cx="73152" cy="18288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086600" y="51114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빠듯함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8138160" y="5111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“저소음으로 청소 (여유 확보)”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903720" y="5513832"/>
            <a:ext cx="73152" cy="18288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086600" y="54589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필요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8138160" y="5458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“충전 후 시작 · 구역 줄여서 시작”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66928" y="585216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713232" y="5852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1188720" y="5852160"/>
            <a:ext cx="10277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온보딩부터 판정이 뒤집히는 것까지, 지금부터 앱에서 직접 보여드리겠습니다.</a:t>
            </a:r>
            <a:endParaRPr lang="en-US" sz="1050" dirty="0"/>
          </a:p>
        </p:txBody>
      </p:sp>
      <p:sp>
        <p:nvSpPr>
          <p:cNvPr id="61" name="Text 55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예측 계산식 검증 상세는 Appendix A3~A5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8C9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활용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5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개입 5지점 → 사용자가 안 해도 되는 일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05740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추론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10128" y="2057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7개 → 세부 유형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0" y="2340864"/>
            <a:ext cx="384048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6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5740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BE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유형을 몰라도 개인화가 성립한다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71576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715768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715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소모율 예측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27157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 · 평수 · 구역 → 여유 시간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2999232"/>
            <a:ext cx="384048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271576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6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71576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BE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“완주 가능”이라는 말을 믿을 수 있게 됐다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37413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37413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3741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 반영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3741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78% → 가용 시간 −20%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657600"/>
            <a:ext cx="384048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337413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6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37413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BE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배터리가 늙어도 안내가 계속 맞는다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03250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4032504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032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 진단으로 식 수정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403250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한쪽 쏠림 → 누락 항 신설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4315968"/>
            <a:ext cx="384048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83680" y="403250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6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03250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BE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방전이 사라졌다 (오차 3.56 → 0.98분)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469087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4690872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46908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상황 인지 · AI Home 연동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0128" y="46908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 · 유형 → 음성/화면 전환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4974336"/>
            <a:ext cx="384048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83680" y="469087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6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6908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9BE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알림이 민폐가 되지 않고, 손을 쓰지 않아도 된다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367528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233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36752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5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 개발 과정 자체 — Claude Code로 프로토타입 구현과 검증 파이프라인을 구성해 1년치 사용 이력을 반복 재분석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6044184"/>
            <a:ext cx="11064240" cy="512064"/>
          </a:xfrm>
          <a:prstGeom prst="roundRect">
            <a:avLst>
              <a:gd name="adj" fmla="val 14286"/>
            </a:avLst>
          </a:prstGeom>
          <a:solidFill>
            <a:srgbClr val="1E25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60441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비용 제거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493008" y="6300216"/>
            <a:ext cx="457200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4498848" y="60441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예방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059168" y="6300216"/>
            <a:ext cx="457200" cy="0"/>
          </a:xfrm>
          <a:prstGeom prst="line">
            <a:avLst/>
          </a:prstGeom>
          <a:noFill/>
          <a:ln w="17780">
            <a:solidFill>
              <a:srgbClr val="7FD9A8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065008" y="60441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복구 경로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928" y="63550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7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잔량은 기기의 언어, 코칭 문장은 사용자의 언어 — 번역기는 실제로 동작합니다.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파급효과와 확장성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재검증 · 타 가전 이식 · 콘텐츠 · 배터리 케어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48840"/>
            <a:ext cx="82296" cy="27432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93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실기기 재검증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이력 → 재계산 → 결과 검증 파이프라인을 실측 로그에 그대로 적용 — 설계 잠정치를 실측값으로 대체한다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96596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2148840"/>
            <a:ext cx="82296" cy="27432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0939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배터리 가전 이식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2423160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로직이 화면과 분리된 순수 함수라, 로봇청소기 등 다른 배터리 가전에 동일 구조로 이식할 수 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3593592"/>
            <a:ext cx="82296" cy="274320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38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확장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386791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보이스팩·코칭 문장은 판정 로직 수정 없이 데이터 추가만으로 확장 — 이번 구현에서 15종까지 확인했다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0488" y="3410712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593592"/>
            <a:ext cx="82296" cy="27432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538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케어 서비스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1112" y="386791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기반 교체 시점 안내를 소모품 구독·AS 예약으로 연결 — 허브·기기 LCD 연동은 이미 동작한다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5029200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120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역할 분담 · 5인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6384" y="5413248"/>
            <a:ext cx="1212494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413248"/>
            <a:ext cx="12124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배터리 모델링·시뮬레이션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26894" y="5413248"/>
            <a:ext cx="912571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6894" y="5413248"/>
            <a:ext cx="9125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분석·검증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67482" y="5413248"/>
            <a:ext cx="83759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7482" y="5413248"/>
            <a:ext cx="837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UX·화면 설계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33088" y="5413248"/>
            <a:ext cx="837590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33088" y="5413248"/>
            <a:ext cx="8375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개발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98694" y="5413248"/>
            <a:ext cx="687629" cy="237744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8694" y="5413248"/>
            <a:ext cx="6876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문서화·발표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잔량은 기기의 언어, 코칭 문장은 사용자의 언어 — 같은 번역기가 다음 기기에서도 동작합니다.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유형 10종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계열 5종(A~E) × 갈림 기준 1개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347472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· 이름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90489" y="1965960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리스크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85916" y="1965960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 코칭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165751" y="1965960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소모율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313432"/>
            <a:ext cx="110550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13432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 가끔·방치형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90489" y="2313432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저SOC 장기 보관 → 자가방전 열화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85916" y="2313432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미사용 시 55% 보관 충전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165751" y="2313432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2660904"/>
            <a:ext cx="11055096" cy="347472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60904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 가끔·상시거치형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90489" y="2660904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만충 상시 유지 → 고SOC 스트레스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85916" y="2660904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상한 충전 권장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65751" y="2660904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008376"/>
            <a:ext cx="110550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08376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짧고 잦은 터보상시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90489" y="3008376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고전류 방전 및 발열 누적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5916" y="3008376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터보 8분 = 표준 15분, 모드 다이어트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65751" y="3008376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4.289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3355848"/>
            <a:ext cx="11055096" cy="347472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355848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짧고 잦은 스팟터보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90489" y="3355848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 리스크 없음 (기준 그룹)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5916" y="3355848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배터리 효율 점수 리포트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165751" y="3355848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3.341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703320"/>
            <a:ext cx="110550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703320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 장시간 완주형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90489" y="3703320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방전 심도(DoD) 과다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5916" y="3703320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예상 잔량 표시 · DoD 70% 상한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65751" y="3703320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050792"/>
            <a:ext cx="11055096" cy="347472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050792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 장시간 분할형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90489" y="4050792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등가 사이클 카운트 급증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5916" y="4050792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분할 2회=0.9사이클, 통합 1회=0.7사이클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165751" y="4050792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" y="4398264"/>
            <a:ext cx="110550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398264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 고빈도 다중세션형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90489" y="4398264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불가 + 급속충전 발열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85916" y="4398264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급속충전 직후 5분 냉각 대기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165751" y="4398264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4.052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" y="4745736"/>
            <a:ext cx="11055096" cy="347472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745736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 고빈도 팩교체형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90489" y="4745736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팩별 사용 불균형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85916" y="4745736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팩별 사이클 편차 표시 · 교체 시점 예고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65751" y="4745736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4.052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" y="5093208"/>
            <a:ext cx="1105509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093208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E-1 주말 집중형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90489" y="5093208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주중 방전 방치 + 여유 시간 부족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85916" y="5093208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청소일 12시간 전 사전 충전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165751" y="5093208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6928" y="5440680"/>
            <a:ext cx="11055096" cy="347472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" y="5440680"/>
            <a:ext cx="22492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E-2 균등 분산형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090489" y="5440680"/>
            <a:ext cx="2912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특이 리스크 없음 (기준 그룹)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85916" y="5440680"/>
            <a:ext cx="37969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 없이 주간 요약 · 예상 수명만 표시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165751" y="5440680"/>
            <a:ext cx="13648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6928" y="5943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소모율(%/분)은 유형별 모드 사용 비율에서 나온다 — C-1 1.881 vs B-1 4.289가 그 차이다.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본론 2 · 결론 3에서 연결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추론 규칙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7개 → 분기 2 · 예측 파라미터 4 · 무음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659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 평수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62656" y="2084832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9659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파라미터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46888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4688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카펫 · 러그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62656" y="2587752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24688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파라미터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97180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71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반려동물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62656" y="3090672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971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파라미터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47472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474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머리카락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62656" y="3593592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34747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파라미터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97764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977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청소 시간대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62656" y="4096512"/>
            <a:ext cx="73152" cy="18288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3977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무음 정책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448056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480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몰아서?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62656" y="4599432"/>
            <a:ext cx="73152" cy="18288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44805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유형 분기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240">
            <a:solidFill>
              <a:srgbClr val="DDE3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9834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거치대 상시?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62656" y="5102352"/>
            <a:ext cx="73152" cy="18288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유형 분기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" y="5577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분기용 2개 · 예측 파라미터 4개 · 무음 정책 1개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337560"/>
            <a:ext cx="1463040" cy="731520"/>
          </a:xfrm>
          <a:prstGeom prst="roundRect">
            <a:avLst>
              <a:gd name="adj" fmla="val 8750"/>
            </a:avLst>
          </a:prstGeom>
          <a:solidFill>
            <a:srgbClr val="14181D"/>
          </a:solidFill>
          <a:ln w="15875">
            <a:solidFill>
              <a:srgbClr val="1418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</a:t>
            </a:r>
            <a:endParaRPr lang="en-US" sz="1000" dirty="0"/>
          </a:p>
          <a:p>
            <a:pPr algn="ctr" indent="0" marL="0">
              <a:lnSpc>
                <a:spcPts val="128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3703320"/>
            <a:ext cx="274320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55080" y="3703320"/>
            <a:ext cx="274320" cy="0"/>
          </a:xfrm>
          <a:prstGeom prst="line">
            <a:avLst/>
          </a:prstGeom>
          <a:noFill/>
          <a:ln w="17780">
            <a:solidFill>
              <a:srgbClr val="B9C2C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12280" y="2286000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286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A계열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거치대 상시 거치 → A-2 / 쓸 때만 → A-1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2944368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29443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B계열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29443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몰아서 → B-1 / 나눠서 → B-2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12280" y="3602736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36027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C계열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36027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몰아서 → C-1 / 나눠서 → C-2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12280" y="4261104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FC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42611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D계열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0" y="42611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몰아서 → D-2 / 나눠서 → D-1   ※ 방향이 반대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12280" y="4919472"/>
            <a:ext cx="4800600" cy="548640"/>
          </a:xfrm>
          <a:prstGeom prst="roundRect">
            <a:avLst>
              <a:gd name="adj" fmla="val 13333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491947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E계열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0" y="49194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몰아서 → E-1 / 나눠서 → E-2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6928" y="58521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근거는 문장으로 되돌려준다 — “거치대에 항상 꽂아두는 습관 → 만충이 오래 유지되어 고SOC 스트레스가 쌓입니다”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본론 2에서 연결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계산식 구조 변경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 신설 · 값 재추정 · 위치 이동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75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정의서 원문식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2368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(잔량 − 예비 잔량) × 온도·SOH 보정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모드별 소모율 (설계 잠정 1.7 / 2.5 / 5.0)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2560320"/>
            <a:ext cx="256032" cy="0"/>
          </a:xfrm>
          <a:prstGeom prst="line">
            <a:avLst/>
          </a:prstGeom>
          <a:noFill/>
          <a:ln w="17780">
            <a:solidFill>
              <a:srgbClr val="14181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36208" y="1965960"/>
            <a:ext cx="5376672" cy="1188720"/>
          </a:xfrm>
          <a:prstGeom prst="roundRect">
            <a:avLst>
              <a:gd name="adj" fmla="val 7692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20756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 최종 보정식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55664" y="23682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(잔량 − 예비 잔량 − 기동 전력)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[ 기준 소모율 × 부하 × 온도 × (1 + 전압강하 항) 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93008"/>
            <a:ext cx="82296" cy="201168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2918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없던 항 신설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32918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기동 전력 c₀ = 2.14% · 저잔량 전압강하 β = 0.237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73568" y="3291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식에 없는 항 47.5% 해소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950208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151376"/>
            <a:ext cx="82296" cy="201168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9502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값 재추정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35808" y="395020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모드별 소모율 = 1.56 / 2.63 / 5.00 (%/분)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73568" y="395020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틀린 항 33.9% 해소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608576"/>
            <a:ext cx="11055096" cy="603504"/>
          </a:xfrm>
          <a:prstGeom prst="roundRect">
            <a:avLst>
              <a:gd name="adj" fmla="val 1212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809744"/>
            <a:ext cx="82296" cy="201168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6085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위치 이동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35808" y="460857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계수를 가용 용량 → 소모 속도로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73568" y="4608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위치가 틀린 항 18.5% 해소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530352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358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예비 잔량 5%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3232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아래는 실사용 시간에서 제외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01568" y="530352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5358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보정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47872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18℃ 미만 · 30℃ 초과에만 작동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36208" y="530352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5358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부하 계수 ≤ 1.40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82512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카펫 0.15 · 반려동물 0.10 · 장모 0.08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070848" y="5303520"/>
            <a:ext cx="2651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53583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17152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실효 소모율의 분모로 적용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" y="599846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슬라이드용으로 다시 쓴 식이 아니라, 코칭 화면의 세 지표를 만들어내는 앱의 그 함수다.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결론 1에서 연결 · 3식 비교는 A4 · 오차 분해는 A5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계산식 3종 비교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데이터 13,392건 · 동일 조건 비교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858000" cy="420624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90088" y="1965960"/>
            <a:ext cx="7086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오차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81628" y="19659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1748" y="1965960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판정 정확도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44768" y="19659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30568" y="19659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386584"/>
            <a:ext cx="6858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8658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정의서 원문식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90088" y="2386584"/>
            <a:ext cx="7086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3.56분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1628" y="23865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+3.56분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1748" y="2386584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44768" y="23865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30568" y="23865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0.8645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807208"/>
            <a:ext cx="6858000" cy="420624"/>
          </a:xfrm>
          <a:prstGeom prst="rect">
            <a:avLst/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80720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3차 최종 보정식 (채택)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90088" y="2807208"/>
            <a:ext cx="7086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81628" y="280720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−0.12분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1748" y="2807208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28072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30568" y="28072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227832"/>
            <a:ext cx="6858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22783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간단 회귀 (변수 5개)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90088" y="3227832"/>
            <a:ext cx="7086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1.71분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81628" y="322783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−0.08분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1748" y="3227832"/>
            <a:ext cx="11201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44768" y="32278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30568" y="32278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0.9562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 부호가 핵심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2702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원문식만 +3.56분으로 전량 과대추정이라 “완주 가능”이라 해놓고 꺼지는 방향으로만 틀린다. 나머지 둘은 사실상 무편향이다.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물리식이 회귀보다 정확했고, 각 항의 의미를 설명할 수 있어 해석 가능성에서도 앞선다.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앱의 판정 경계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23317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18120" y="2432304"/>
            <a:ext cx="73152" cy="182880"/>
          </a:xfrm>
          <a:prstGeom prst="rect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5분 이상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69264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가능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80960" y="27889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18120" y="2889504"/>
            <a:ext cx="73152" cy="18288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28432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0 ~ 5분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692640" y="2788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빠듯함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80960" y="32461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18120" y="3346704"/>
            <a:ext cx="73152" cy="182880"/>
          </a:xfrm>
          <a:prstGeom prst="rect">
            <a:avLst/>
          </a:prstGeom>
          <a:solidFill>
            <a:srgbClr val="D9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28432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여유 음수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92640" y="3246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 필요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80960" y="37033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3803904"/>
            <a:ext cx="73152" cy="182880"/>
          </a:xfrm>
          <a:prstGeom prst="rect">
            <a:avLst/>
          </a:prstGeom>
          <a:solidFill>
            <a:srgbClr val="DF8A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28432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만충으로도 음수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692640" y="37033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분할 청소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8096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 잔량은 고정값이 아니라, 목표 여유 시간을 만족하는 잔량을 조건별로 역산해 얻는다.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553212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" y="5532120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집계 기준 각주 — 대시보드에는 세션 단위 전체 집계(3.71 → 0.32분, 89% → 99%)도 함께 실려 있습니다. 발표 수치는 모델별 결과 집계 기준(3.56 → 0.98분, 90.0% → 96.0%)으로 통일했습니다.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본론 3 · 결론 1에서 연결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 요인 분해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식에 없는 항 47.5% · 값 33.9% · 위치 18.5%</a:t>
            </a:r>
            <a:endParaRPr lang="en-US" sz="1250" dirty="0"/>
          </a:p>
        </p:txBody>
      </p:sp>
      <p:pic>
        <p:nvPicPr>
          <p:cNvPr id="5" name="Image 0" descr="/Users/brothrone/Desktop/a_repo/figs/fig4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5960"/>
            <a:ext cx="539496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947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098280" y="19476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2194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00800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식에 없는 항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0" y="2468880"/>
            <a:ext cx="365760" cy="0"/>
          </a:xfrm>
          <a:prstGeom prst="line">
            <a:avLst/>
          </a:prstGeom>
          <a:noFill/>
          <a:ln w="17780">
            <a:solidFill>
              <a:srgbClr val="D93B4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98280" y="2176272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35440" y="21762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기동 전력 · 전압강하 항 신설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33.9%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00800" y="3557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틀린 항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95360" y="3429000"/>
            <a:ext cx="365760" cy="0"/>
          </a:xfrm>
          <a:prstGeom prst="line">
            <a:avLst/>
          </a:prstGeom>
          <a:noFill/>
          <a:ln w="17780">
            <a:solidFill>
              <a:srgbClr val="DF8A1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098280" y="3136392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0" y="313639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모드별 소모율 재추정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0" y="4114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400800" y="45171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위치가 틀린 항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595360" y="4389120"/>
            <a:ext cx="365760" cy="0"/>
          </a:xfrm>
          <a:prstGeom prst="line">
            <a:avLst/>
          </a:prstGeom>
          <a:noFill/>
          <a:ln w="17780">
            <a:solidFill>
              <a:srgbClr val="1FA97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98280" y="4096512"/>
            <a:ext cx="2514600" cy="603504"/>
          </a:xfrm>
          <a:prstGeom prst="roundRect">
            <a:avLst>
              <a:gd name="adj" fmla="val 10606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35440" y="40965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 계수를 소모 속도로 이동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" y="56235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잔차를 조건별(모드 · 잔량 구간 · 온도 · 세션 길이)로 층화해 각 층에 남는 계통적 패턴을 추적했다. 계수만 다시 맞췄다면 오차의 절반도 잡지 못했다.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결론 1에서 연결 · 처방의 실제 형태는 A3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검증 결과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10종 전부 개선 · 가장 어려운 케이스도 함께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023360" y="1874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원문식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보정식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35240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개선율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4482" y="2185416"/>
            <a:ext cx="2341047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1520" y="212140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0474" y="212140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5256" y="20665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35240" y="20665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−78%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4323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55058" y="2551176"/>
            <a:ext cx="2574219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5269" y="248716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91050" y="248716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9005" y="24323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35240" y="2432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−77%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27980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36404" y="2916936"/>
            <a:ext cx="1473647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46043" y="285292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2396" y="285292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9779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35240" y="27980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−66%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31638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71116" y="3282696"/>
            <a:ext cx="2154509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1617" y="321868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7108" y="321868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5353" y="31638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3524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−75%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" y="35295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96017" y="3648456"/>
            <a:ext cx="3572195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4204" y="358444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32009" y="358444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7940" y="35295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35240" y="3529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−73%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" y="38953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68036" y="4014216"/>
            <a:ext cx="3861328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5357" y="395020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04028" y="395020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9093" y="38953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35240" y="38953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−75%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" y="42611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17750" y="4379976"/>
            <a:ext cx="1259129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2871" y="431596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53742" y="431596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86607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35240" y="4261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−63%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6928" y="46268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11019" y="4745736"/>
            <a:ext cx="1399032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46043" y="468172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47011" y="468172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19779" y="46268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35240" y="46268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−62%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6928" y="49926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15155" y="5111496"/>
            <a:ext cx="2257105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8252" y="504748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51147" y="504748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1988" y="49926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635240" y="4992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−78%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66928" y="53583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192365" y="5477256"/>
            <a:ext cx="2891333" cy="0"/>
          </a:xfrm>
          <a:prstGeom prst="line">
            <a:avLst/>
          </a:prstGeom>
          <a:noFill/>
          <a:ln w="31750">
            <a:solidFill>
              <a:srgbClr val="C3CCD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19690" y="5413248"/>
            <a:ext cx="128016" cy="128016"/>
          </a:xfrm>
          <a:prstGeom prst="ellipse">
            <a:avLst/>
          </a:prstGeom>
          <a:solidFill>
            <a:srgbClr val="9AA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28357" y="5413248"/>
            <a:ext cx="128016" cy="128016"/>
          </a:xfrm>
          <a:prstGeom prst="ellipse">
            <a:avLst/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426" y="5358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635240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−78%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778240" y="19659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C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42832" y="2075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어려운 케이스 — C-1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942832" y="233172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판정 정확도는 보정 후에도 76%로 10종 중 유일하게 낮다. 다만 개선폭은 55% → 76%로 가장 크다. 세션이 길수록 작은 예측 오차가 완주 여부를 뒤집기 쉽기 때문이다.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778240" y="347472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EDF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42832" y="3575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개선 — E-1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942832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완주 판정 정확도 50% → 97%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66928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559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설치형 웹앱 · 오프라인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31520" y="57790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HTML 기반 PWA. 음성 클립까지 전 자산 캐시 — 네트워크 없이 전 구간 동작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361688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26280" y="5559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 제어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26280" y="57790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“완주 경계” · “빠듯 경계” 버튼은 목표 여유 시간을 만족하는 잔량을 역산해 즉시 점프시킨다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156448" y="54864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5559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재현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321040" y="57790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이력 → 재계산 스크립트 → 결과 데이터로 수치 전량 재현 가능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8521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6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· SOH 상세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대비 — 용어 정의와 수명 판정 기준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457200"/>
          </a:xfrm>
          <a:prstGeom prst="rect">
            <a:avLst/>
          </a:prstGeom>
          <a:solidFill>
            <a:srgbClr val="14181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27183" y="19659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(State of Charge)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70324" y="19659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(State of Health)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423160"/>
            <a:ext cx="110550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231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뜻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27183" y="24231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남은 충전량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70324" y="24231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신품 대비 남은 성능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880360"/>
            <a:ext cx="11055096" cy="457200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803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7183" y="28803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~ 100% · 쓰면 줄고 충전하면 회복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70324" y="28803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100%에서 시작해 단조 감소 · 회복 안 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337560"/>
            <a:ext cx="110550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375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변하는 속도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27183" y="33375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번의 청소로도 크게 변함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70324" y="33375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수백 사이클에 걸쳐 서서히 변함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794760"/>
            <a:ext cx="11055096" cy="457200"/>
          </a:xfrm>
          <a:prstGeom prst="rect">
            <a:avLst/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947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답하는 질문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7183" y="37947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 청소를 끝낼 수 있는가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70324" y="37947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앞으로 얼마나 더 쓸 수 있는가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251960"/>
            <a:ext cx="1105509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51960"/>
            <a:ext cx="1585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b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앱에서의 쓰임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27183" y="42519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167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판정(완주/빠듯/충전)의 입력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70324" y="4251960"/>
            <a:ext cx="446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9C6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예측식의 소모 속도 보정 + 교체 시점 안내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84632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CED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4965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E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흔한 오해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6384" y="5310886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5257800"/>
            <a:ext cx="4818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“SOH 50%면 SOC도 50%” — 아니다. 완전히 다른 축이다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6384" y="5786374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5733288"/>
            <a:ext cx="4818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50%인 배터리도 만충하면 SOC는 100%가 된다. 다만 그 100%가 담는 에너지가 절반이다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36208" y="4846320"/>
            <a:ext cx="5376672" cy="1371600"/>
          </a:xfrm>
          <a:prstGeom prst="roundRect">
            <a:avLst>
              <a:gd name="adj" fmla="val 6667"/>
            </a:avLst>
          </a:prstGeom>
          <a:solidFill>
            <a:srgbClr val="F4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49651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수명 판정 기준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55664" y="5310886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525780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통상 기준 — SOH 80% 미만이면 수명이 다한 것으로 본다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55664" y="5694934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5641848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앱은 SOH 80% 미만에서 코칭 화면에 “교체 검토” 안내를 띄운다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55664" y="6078982"/>
            <a:ext cx="64008" cy="29261"/>
          </a:xfrm>
          <a:prstGeom prst="rect">
            <a:avLst/>
          </a:prstGeom>
          <a:solidFill>
            <a:srgbClr val="7983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0256" y="6025896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2B3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방식 — 실효 소모율 ÷ SOH. SOH 80%면 소모 속도 1.25배, 가용 시간 20% 감소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" y="58978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4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SOH를 넣기 전에는 배터리가 늙을수록 안내가 낙관적으로 틀렸다. 넣고 나서는 수명이 닳아도 안내가 계속 맞는다.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" y="635508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서론 2 · 본론 4에서 연결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배터리 라이프 코칭 UX</dc:title>
  <dc:subject>PptxGenJS Presentation</dc:subject>
  <dc:creator>파라써블</dc:creator>
  <cp:lastModifiedBy>파라써블</cp:lastModifiedBy>
  <cp:revision>1</cp:revision>
  <dcterms:created xsi:type="dcterms:W3CDTF">2026-09-03T13:54:58Z</dcterms:created>
  <dcterms:modified xsi:type="dcterms:W3CDTF">2026-09-03T13:54:58Z</dcterms:modified>
</cp:coreProperties>
</file>